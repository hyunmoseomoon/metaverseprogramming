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0" r:id="rId2"/>
    <p:sldId id="271" r:id="rId3"/>
    <p:sldId id="272" r:id="rId4"/>
    <p:sldId id="274" r:id="rId5"/>
    <p:sldId id="273" r:id="rId6"/>
    <p:sldId id="264" r:id="rId7"/>
    <p:sldId id="265" r:id="rId8"/>
    <p:sldId id="266" r:id="rId9"/>
    <p:sldId id="269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565"/>
    <a:srgbClr val="7F7F7F"/>
    <a:srgbClr val="FBE5D6"/>
    <a:srgbClr val="EE2D42"/>
    <a:srgbClr val="C00000"/>
    <a:srgbClr val="507596"/>
    <a:srgbClr val="70AD47"/>
    <a:srgbClr val="00B0F0"/>
    <a:srgbClr val="0AB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9" autoAdjust="0"/>
    <p:restoredTop sz="83733" autoAdjust="0"/>
  </p:normalViewPr>
  <p:slideViewPr>
    <p:cSldViewPr snapToObjects="1">
      <p:cViewPr varScale="1">
        <p:scale>
          <a:sx n="102" d="100"/>
          <a:sy n="102" d="100"/>
        </p:scale>
        <p:origin x="1133" y="82"/>
      </p:cViewPr>
      <p:guideLst/>
    </p:cSldViewPr>
  </p:slideViewPr>
  <p:outlineViewPr>
    <p:cViewPr>
      <p:scale>
        <a:sx n="33" d="100"/>
        <a:sy n="33" d="100"/>
      </p:scale>
      <p:origin x="0" y="-294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88" d="100"/>
          <a:sy n="88" d="100"/>
        </p:scale>
        <p:origin x="32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48DC4-C6C6-40B1-9DFA-F660CBA06C98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1967D-BB5E-4CF8-B4C9-E06F1FBE65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478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6B3BB-1D66-40A7-B7F5-0D747E05A8AA}" type="datetimeFigureOut">
              <a:rPr lang="ko-KR" altLang="en-US" smtClean="0"/>
              <a:t>2024-11-17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207CD-EC03-4EFF-A9AB-61628AC408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63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7CD-EC03-4EFF-A9AB-61628AC4089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441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220218"/>
            <a:ext cx="9144000" cy="696614"/>
          </a:xfrm>
        </p:spPr>
        <p:txBody>
          <a:bodyPr anchor="ctr"/>
          <a:lstStyle>
            <a:lvl1pPr algn="ctr">
              <a:defRPr sz="2400"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737394"/>
            <a:ext cx="9144000" cy="5475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0"/>
          </p:nvPr>
        </p:nvSpPr>
        <p:spPr>
          <a:xfrm>
            <a:off x="1524000" y="4365104"/>
            <a:ext cx="9144000" cy="144016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109836" y="116630"/>
            <a:ext cx="119533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32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9416" y="3433365"/>
            <a:ext cx="5904656" cy="601598"/>
          </a:xfrm>
        </p:spPr>
        <p:txBody>
          <a:bodyPr anchor="ctr"/>
          <a:lstStyle>
            <a:lvl1pPr algn="r">
              <a:defRPr sz="1800" cap="small" baseline="0">
                <a:latin typeface="+mn-ea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02719" y="4200431"/>
            <a:ext cx="5947081" cy="648072"/>
          </a:xfrm>
        </p:spPr>
        <p:txBody>
          <a:bodyPr anchor="ctr">
            <a:noAutofit/>
          </a:bodyPr>
          <a:lstStyle>
            <a:lvl1pPr marL="0" indent="0" algn="r">
              <a:buNone/>
              <a:defRPr sz="1800" u="sng" cap="small" baseline="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ko-KR" altLang="en-US" dirty="0"/>
          </a:p>
        </p:txBody>
      </p:sp>
      <p:sp>
        <p:nvSpPr>
          <p:cNvPr id="6" name="내용 개체 틀 2"/>
          <p:cNvSpPr>
            <a:spLocks noGrp="1"/>
          </p:cNvSpPr>
          <p:nvPr>
            <p:ph idx="10"/>
          </p:nvPr>
        </p:nvSpPr>
        <p:spPr>
          <a:xfrm>
            <a:off x="7608168" y="3573016"/>
            <a:ext cx="3777586" cy="282054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109836" y="116630"/>
            <a:ext cx="119533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/>
          <p:cNvSpPr>
            <a:spLocks noGrp="1"/>
          </p:cNvSpPr>
          <p:nvPr>
            <p:ph idx="11"/>
          </p:nvPr>
        </p:nvSpPr>
        <p:spPr>
          <a:xfrm>
            <a:off x="839416" y="5013971"/>
            <a:ext cx="5904656" cy="662350"/>
          </a:xfrm>
        </p:spPr>
        <p:txBody>
          <a:bodyPr anchor="ctr">
            <a:noAutofit/>
          </a:bodyPr>
          <a:lstStyle>
            <a:lvl1pPr marL="0" indent="0" algn="r">
              <a:lnSpc>
                <a:spcPct val="150000"/>
              </a:lnSpc>
              <a:buFont typeface="Arial" panose="020B0604020202020204" pitchFamily="34" charset="0"/>
              <a:buNone/>
              <a:defRPr sz="1600" b="1" cap="small" baseline="0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7" name="내용 개체 틀 2"/>
          <p:cNvSpPr>
            <a:spLocks noGrp="1"/>
          </p:cNvSpPr>
          <p:nvPr>
            <p:ph idx="12"/>
          </p:nvPr>
        </p:nvSpPr>
        <p:spPr>
          <a:xfrm>
            <a:off x="7608168" y="612818"/>
            <a:ext cx="3777586" cy="282054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7033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0"/>
          </p:nvPr>
        </p:nvSpPr>
        <p:spPr>
          <a:xfrm>
            <a:off x="7608168" y="612818"/>
            <a:ext cx="3777586" cy="578074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109836" y="116630"/>
            <a:ext cx="119533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839416" y="3433365"/>
            <a:ext cx="5904656" cy="601598"/>
          </a:xfrm>
        </p:spPr>
        <p:txBody>
          <a:bodyPr anchor="ctr"/>
          <a:lstStyle>
            <a:lvl1pPr algn="r">
              <a:defRPr sz="1800" cap="small" baseline="0">
                <a:latin typeface="+mn-ea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8" name="부제목 2"/>
          <p:cNvSpPr>
            <a:spLocks noGrp="1"/>
          </p:cNvSpPr>
          <p:nvPr>
            <p:ph type="subTitle" idx="1"/>
          </p:nvPr>
        </p:nvSpPr>
        <p:spPr>
          <a:xfrm>
            <a:off x="802719" y="4200431"/>
            <a:ext cx="5947081" cy="648072"/>
          </a:xfrm>
        </p:spPr>
        <p:txBody>
          <a:bodyPr anchor="ctr">
            <a:noAutofit/>
          </a:bodyPr>
          <a:lstStyle>
            <a:lvl1pPr marL="0" indent="0" algn="r">
              <a:buNone/>
              <a:defRPr sz="1800" u="sng" cap="small" baseline="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ko-KR" altLang="en-US" dirty="0"/>
          </a:p>
        </p:txBody>
      </p:sp>
      <p:sp>
        <p:nvSpPr>
          <p:cNvPr id="9" name="내용 개체 틀 2"/>
          <p:cNvSpPr>
            <a:spLocks noGrp="1"/>
          </p:cNvSpPr>
          <p:nvPr>
            <p:ph idx="11"/>
          </p:nvPr>
        </p:nvSpPr>
        <p:spPr>
          <a:xfrm>
            <a:off x="839416" y="5013971"/>
            <a:ext cx="5904656" cy="662350"/>
          </a:xfrm>
        </p:spPr>
        <p:txBody>
          <a:bodyPr anchor="ctr">
            <a:noAutofit/>
          </a:bodyPr>
          <a:lstStyle>
            <a:lvl1pPr marL="0" indent="0" algn="r">
              <a:lnSpc>
                <a:spcPct val="150000"/>
              </a:lnSpc>
              <a:buFont typeface="Arial" panose="020B0604020202020204" pitchFamily="34" charset="0"/>
              <a:buNone/>
              <a:defRPr sz="1600" b="1" cap="small" baseline="0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564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77966" y="948258"/>
            <a:ext cx="10818633" cy="5505077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5349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905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2"/>
          <p:cNvSpPr>
            <a:spLocks noGrp="1"/>
          </p:cNvSpPr>
          <p:nvPr>
            <p:ph idx="10"/>
          </p:nvPr>
        </p:nvSpPr>
        <p:spPr>
          <a:xfrm>
            <a:off x="263353" y="260648"/>
            <a:ext cx="11643064" cy="633670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30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12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내용 개체 틀 2"/>
          <p:cNvSpPr>
            <a:spLocks noGrp="1"/>
          </p:cNvSpPr>
          <p:nvPr>
            <p:ph idx="10"/>
          </p:nvPr>
        </p:nvSpPr>
        <p:spPr>
          <a:xfrm>
            <a:off x="695400" y="3284983"/>
            <a:ext cx="10801200" cy="3384377"/>
          </a:xfrm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677966" y="948258"/>
            <a:ext cx="10818633" cy="5505077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9916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내용 개체 틀 2"/>
          <p:cNvSpPr>
            <a:spLocks noGrp="1"/>
          </p:cNvSpPr>
          <p:nvPr>
            <p:ph idx="10"/>
          </p:nvPr>
        </p:nvSpPr>
        <p:spPr>
          <a:xfrm>
            <a:off x="695400" y="3284983"/>
            <a:ext cx="5318311" cy="3384377"/>
          </a:xfrm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0" name="내용 개체 틀 2"/>
          <p:cNvSpPr>
            <a:spLocks noGrp="1"/>
          </p:cNvSpPr>
          <p:nvPr>
            <p:ph idx="12"/>
          </p:nvPr>
        </p:nvSpPr>
        <p:spPr>
          <a:xfrm>
            <a:off x="6178289" y="3284983"/>
            <a:ext cx="5318311" cy="3384377"/>
          </a:xfrm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677966" y="948258"/>
            <a:ext cx="10818633" cy="5505077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2684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677967" y="948259"/>
            <a:ext cx="7434257" cy="5721101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4"/>
          </p:nvPr>
        </p:nvSpPr>
        <p:spPr>
          <a:xfrm>
            <a:off x="8112224" y="948259"/>
            <a:ext cx="3384375" cy="572110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ㅋ</a:t>
            </a:r>
            <a:endParaRPr lang="ko-KR" altLang="en-US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68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677967" y="948258"/>
            <a:ext cx="7794297" cy="557708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2"/>
          </p:nvPr>
        </p:nvSpPr>
        <p:spPr>
          <a:xfrm>
            <a:off x="8472264" y="3789040"/>
            <a:ext cx="2978388" cy="2736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4"/>
          </p:nvPr>
        </p:nvSpPr>
        <p:spPr>
          <a:xfrm>
            <a:off x="8472264" y="980728"/>
            <a:ext cx="2978388" cy="2736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6993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17011" y="108355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/>
          <p:cNvSpPr>
            <a:spLocks noGrp="1"/>
          </p:cNvSpPr>
          <p:nvPr>
            <p:ph idx="16"/>
          </p:nvPr>
        </p:nvSpPr>
        <p:spPr>
          <a:xfrm>
            <a:off x="695401" y="4600913"/>
            <a:ext cx="3473817" cy="201622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6" name="내용 개체 틀 2"/>
          <p:cNvSpPr>
            <a:spLocks noGrp="1"/>
          </p:cNvSpPr>
          <p:nvPr>
            <p:ph idx="18"/>
          </p:nvPr>
        </p:nvSpPr>
        <p:spPr>
          <a:xfrm>
            <a:off x="4359092" y="4600913"/>
            <a:ext cx="3473817" cy="201622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8" name="내용 개체 틀 2"/>
          <p:cNvSpPr>
            <a:spLocks noGrp="1"/>
          </p:cNvSpPr>
          <p:nvPr>
            <p:ph idx="20"/>
          </p:nvPr>
        </p:nvSpPr>
        <p:spPr>
          <a:xfrm>
            <a:off x="8022783" y="4600913"/>
            <a:ext cx="3473817" cy="201622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77966" y="948259"/>
            <a:ext cx="10818633" cy="3652654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0586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/>
          <p:cNvSpPr>
            <a:spLocks noGrp="1"/>
          </p:cNvSpPr>
          <p:nvPr>
            <p:ph idx="16"/>
          </p:nvPr>
        </p:nvSpPr>
        <p:spPr>
          <a:xfrm>
            <a:off x="695400" y="4233962"/>
            <a:ext cx="2625020" cy="214048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6" name="내용 개체 틀 2"/>
          <p:cNvSpPr>
            <a:spLocks noGrp="1"/>
          </p:cNvSpPr>
          <p:nvPr>
            <p:ph idx="18"/>
          </p:nvPr>
        </p:nvSpPr>
        <p:spPr>
          <a:xfrm>
            <a:off x="3431704" y="4233962"/>
            <a:ext cx="2625020" cy="214048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9" name="내용 개체 틀 2"/>
          <p:cNvSpPr>
            <a:spLocks noGrp="1"/>
          </p:cNvSpPr>
          <p:nvPr>
            <p:ph idx="19"/>
          </p:nvPr>
        </p:nvSpPr>
        <p:spPr>
          <a:xfrm>
            <a:off x="6168008" y="4240841"/>
            <a:ext cx="2625020" cy="214048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20"/>
          </p:nvPr>
        </p:nvSpPr>
        <p:spPr>
          <a:xfrm>
            <a:off x="8904312" y="4240841"/>
            <a:ext cx="2625020" cy="214048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21"/>
          </p:nvPr>
        </p:nvSpPr>
        <p:spPr>
          <a:xfrm>
            <a:off x="695400" y="6408657"/>
            <a:ext cx="2625020" cy="21752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내용 개체 틀 2"/>
          <p:cNvSpPr>
            <a:spLocks noGrp="1"/>
          </p:cNvSpPr>
          <p:nvPr>
            <p:ph idx="22"/>
          </p:nvPr>
        </p:nvSpPr>
        <p:spPr>
          <a:xfrm>
            <a:off x="3431704" y="6408657"/>
            <a:ext cx="2625020" cy="21752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내용 개체 틀 2"/>
          <p:cNvSpPr>
            <a:spLocks noGrp="1"/>
          </p:cNvSpPr>
          <p:nvPr>
            <p:ph idx="23"/>
          </p:nvPr>
        </p:nvSpPr>
        <p:spPr>
          <a:xfrm>
            <a:off x="6168008" y="6415536"/>
            <a:ext cx="2625020" cy="21752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4" name="내용 개체 틀 2"/>
          <p:cNvSpPr>
            <a:spLocks noGrp="1"/>
          </p:cNvSpPr>
          <p:nvPr>
            <p:ph idx="24"/>
          </p:nvPr>
        </p:nvSpPr>
        <p:spPr>
          <a:xfrm>
            <a:off x="8904312" y="6415536"/>
            <a:ext cx="2625020" cy="21752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  <p:sp>
        <p:nvSpPr>
          <p:cNvPr id="16" name="내용 개체 틀 2"/>
          <p:cNvSpPr>
            <a:spLocks noGrp="1"/>
          </p:cNvSpPr>
          <p:nvPr>
            <p:ph idx="1"/>
          </p:nvPr>
        </p:nvSpPr>
        <p:spPr>
          <a:xfrm>
            <a:off x="677966" y="948258"/>
            <a:ext cx="10818633" cy="3258375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92608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677967" y="948258"/>
            <a:ext cx="4905256" cy="5721102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0"/>
          </p:nvPr>
        </p:nvSpPr>
        <p:spPr>
          <a:xfrm>
            <a:off x="8688288" y="3877282"/>
            <a:ext cx="2978388" cy="275253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7" name="내용 개체 틀 2"/>
          <p:cNvSpPr>
            <a:spLocks noGrp="1"/>
          </p:cNvSpPr>
          <p:nvPr>
            <p:ph idx="12"/>
          </p:nvPr>
        </p:nvSpPr>
        <p:spPr>
          <a:xfrm>
            <a:off x="8688288" y="1036501"/>
            <a:ext cx="2978388" cy="275253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3"/>
          </p:nvPr>
        </p:nvSpPr>
        <p:spPr>
          <a:xfrm>
            <a:off x="5583223" y="3861048"/>
            <a:ext cx="2978388" cy="275253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4"/>
          </p:nvPr>
        </p:nvSpPr>
        <p:spPr>
          <a:xfrm>
            <a:off x="5583223" y="1020267"/>
            <a:ext cx="2978388" cy="275253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7061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677967" y="948258"/>
            <a:ext cx="4913977" cy="5721102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2"/>
          </p:nvPr>
        </p:nvSpPr>
        <p:spPr>
          <a:xfrm>
            <a:off x="8697009" y="1077122"/>
            <a:ext cx="2978388" cy="23437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4"/>
          </p:nvPr>
        </p:nvSpPr>
        <p:spPr>
          <a:xfrm>
            <a:off x="5591944" y="1060888"/>
            <a:ext cx="2978388" cy="23437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7" name="내용 개체 틀 2"/>
          <p:cNvSpPr>
            <a:spLocks noGrp="1"/>
          </p:cNvSpPr>
          <p:nvPr>
            <p:ph idx="15"/>
          </p:nvPr>
        </p:nvSpPr>
        <p:spPr>
          <a:xfrm>
            <a:off x="8697009" y="3437152"/>
            <a:ext cx="2978388" cy="335956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1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8" name="내용 개체 틀 2"/>
          <p:cNvSpPr>
            <a:spLocks noGrp="1"/>
          </p:cNvSpPr>
          <p:nvPr>
            <p:ph idx="16"/>
          </p:nvPr>
        </p:nvSpPr>
        <p:spPr>
          <a:xfrm>
            <a:off x="5591944" y="3420918"/>
            <a:ext cx="2978388" cy="335956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1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9" name="내용 개체 틀 2"/>
          <p:cNvSpPr>
            <a:spLocks noGrp="1"/>
          </p:cNvSpPr>
          <p:nvPr>
            <p:ph idx="17"/>
          </p:nvPr>
        </p:nvSpPr>
        <p:spPr>
          <a:xfrm>
            <a:off x="8697009" y="3901366"/>
            <a:ext cx="2978388" cy="23437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0" name="내용 개체 틀 2"/>
          <p:cNvSpPr>
            <a:spLocks noGrp="1"/>
          </p:cNvSpPr>
          <p:nvPr>
            <p:ph idx="18"/>
          </p:nvPr>
        </p:nvSpPr>
        <p:spPr>
          <a:xfrm>
            <a:off x="5591944" y="3885132"/>
            <a:ext cx="2978388" cy="23437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1" name="내용 개체 틀 2"/>
          <p:cNvSpPr>
            <a:spLocks noGrp="1"/>
          </p:cNvSpPr>
          <p:nvPr>
            <p:ph idx="19"/>
          </p:nvPr>
        </p:nvSpPr>
        <p:spPr>
          <a:xfrm>
            <a:off x="8697009" y="6261396"/>
            <a:ext cx="2978388" cy="335956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1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2" name="내용 개체 틀 2"/>
          <p:cNvSpPr>
            <a:spLocks noGrp="1"/>
          </p:cNvSpPr>
          <p:nvPr>
            <p:ph idx="20"/>
          </p:nvPr>
        </p:nvSpPr>
        <p:spPr>
          <a:xfrm>
            <a:off x="5591944" y="6245162"/>
            <a:ext cx="2978388" cy="335956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1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8095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0"/>
          </p:nvPr>
        </p:nvSpPr>
        <p:spPr>
          <a:xfrm>
            <a:off x="3172019" y="3805274"/>
            <a:ext cx="2563941" cy="257894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7" name="내용 개체 틀 2"/>
          <p:cNvSpPr>
            <a:spLocks noGrp="1"/>
          </p:cNvSpPr>
          <p:nvPr>
            <p:ph idx="12"/>
          </p:nvPr>
        </p:nvSpPr>
        <p:spPr>
          <a:xfrm>
            <a:off x="3172019" y="1157212"/>
            <a:ext cx="2563941" cy="257894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3"/>
          </p:nvPr>
        </p:nvSpPr>
        <p:spPr>
          <a:xfrm>
            <a:off x="516603" y="3789040"/>
            <a:ext cx="2563941" cy="257894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4"/>
          </p:nvPr>
        </p:nvSpPr>
        <p:spPr>
          <a:xfrm>
            <a:off x="516603" y="1140978"/>
            <a:ext cx="2563941" cy="257894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9" name="내용 개체 틀 2"/>
          <p:cNvSpPr>
            <a:spLocks noGrp="1"/>
          </p:cNvSpPr>
          <p:nvPr>
            <p:ph idx="1" hasCustomPrompt="1"/>
          </p:nvPr>
        </p:nvSpPr>
        <p:spPr>
          <a:xfrm>
            <a:off x="5963028" y="1245084"/>
            <a:ext cx="5444961" cy="2471948"/>
          </a:xfrm>
        </p:spPr>
        <p:txBody>
          <a:bodyPr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1" name="내용 개체 틀 2"/>
          <p:cNvSpPr>
            <a:spLocks noGrp="1"/>
          </p:cNvSpPr>
          <p:nvPr>
            <p:ph idx="15" hasCustomPrompt="1"/>
          </p:nvPr>
        </p:nvSpPr>
        <p:spPr>
          <a:xfrm>
            <a:off x="5963027" y="3981388"/>
            <a:ext cx="5444961" cy="2471948"/>
          </a:xfrm>
        </p:spPr>
        <p:txBody>
          <a:bodyPr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656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0"/>
          </p:nvPr>
        </p:nvSpPr>
        <p:spPr>
          <a:xfrm>
            <a:off x="677966" y="1052736"/>
            <a:ext cx="5346026" cy="2736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109836" y="116630"/>
            <a:ext cx="119533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1"/>
          </p:nvPr>
        </p:nvSpPr>
        <p:spPr>
          <a:xfrm>
            <a:off x="677966" y="3861048"/>
            <a:ext cx="5346026" cy="2736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내용 개체 틀 2"/>
          <p:cNvSpPr>
            <a:spLocks noGrp="1"/>
          </p:cNvSpPr>
          <p:nvPr>
            <p:ph idx="12"/>
          </p:nvPr>
        </p:nvSpPr>
        <p:spPr>
          <a:xfrm>
            <a:off x="6150574" y="1052736"/>
            <a:ext cx="5346026" cy="2736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3"/>
          </p:nvPr>
        </p:nvSpPr>
        <p:spPr>
          <a:xfrm>
            <a:off x="6150574" y="3861048"/>
            <a:ext cx="5346026" cy="2736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6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79265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내용 개체 틀 2"/>
          <p:cNvSpPr>
            <a:spLocks noGrp="1"/>
          </p:cNvSpPr>
          <p:nvPr>
            <p:ph idx="10"/>
          </p:nvPr>
        </p:nvSpPr>
        <p:spPr>
          <a:xfrm>
            <a:off x="767409" y="1124742"/>
            <a:ext cx="3456384" cy="26642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0" name="내용 개체 틀 2"/>
          <p:cNvSpPr>
            <a:spLocks noGrp="1"/>
          </p:cNvSpPr>
          <p:nvPr>
            <p:ph idx="12"/>
          </p:nvPr>
        </p:nvSpPr>
        <p:spPr>
          <a:xfrm>
            <a:off x="4367808" y="1124742"/>
            <a:ext cx="3456384" cy="26642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2" name="내용 개체 틀 2"/>
          <p:cNvSpPr>
            <a:spLocks noGrp="1"/>
          </p:cNvSpPr>
          <p:nvPr>
            <p:ph idx="14"/>
          </p:nvPr>
        </p:nvSpPr>
        <p:spPr>
          <a:xfrm>
            <a:off x="7968208" y="1124742"/>
            <a:ext cx="3456384" cy="26642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677966" y="476672"/>
            <a:ext cx="10818633" cy="471587"/>
          </a:xfrm>
        </p:spPr>
        <p:txBody>
          <a:bodyPr/>
          <a:lstStyle>
            <a:lvl1pPr algn="l">
              <a:defRPr sz="1800" u="none" cap="small" baseline="0"/>
            </a:lvl1pPr>
          </a:lstStyle>
          <a:p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5"/>
          </p:nvPr>
        </p:nvSpPr>
        <p:spPr>
          <a:xfrm>
            <a:off x="767409" y="3933056"/>
            <a:ext cx="3456384" cy="26642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내용 개체 틀 2"/>
          <p:cNvSpPr>
            <a:spLocks noGrp="1"/>
          </p:cNvSpPr>
          <p:nvPr>
            <p:ph idx="16"/>
          </p:nvPr>
        </p:nvSpPr>
        <p:spPr>
          <a:xfrm>
            <a:off x="4367808" y="3933056"/>
            <a:ext cx="3456384" cy="26642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내용 개체 틀 2"/>
          <p:cNvSpPr>
            <a:spLocks noGrp="1"/>
          </p:cNvSpPr>
          <p:nvPr>
            <p:ph idx="17"/>
          </p:nvPr>
        </p:nvSpPr>
        <p:spPr>
          <a:xfrm>
            <a:off x="7968208" y="3933056"/>
            <a:ext cx="3456384" cy="26642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6158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9836" y="116632"/>
            <a:ext cx="11962828" cy="66247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0"/>
          </p:nvPr>
        </p:nvSpPr>
        <p:spPr>
          <a:xfrm>
            <a:off x="677967" y="674443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7" name="내용 개체 틀 2"/>
          <p:cNvSpPr>
            <a:spLocks noGrp="1"/>
          </p:cNvSpPr>
          <p:nvPr>
            <p:ph idx="11"/>
          </p:nvPr>
        </p:nvSpPr>
        <p:spPr>
          <a:xfrm>
            <a:off x="677967" y="2690664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내용 개체 틀 2"/>
          <p:cNvSpPr>
            <a:spLocks noGrp="1"/>
          </p:cNvSpPr>
          <p:nvPr>
            <p:ph idx="16"/>
          </p:nvPr>
        </p:nvSpPr>
        <p:spPr>
          <a:xfrm>
            <a:off x="677967" y="3645027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내용 개체 틀 2"/>
          <p:cNvSpPr>
            <a:spLocks noGrp="1"/>
          </p:cNvSpPr>
          <p:nvPr>
            <p:ph idx="17"/>
          </p:nvPr>
        </p:nvSpPr>
        <p:spPr>
          <a:xfrm>
            <a:off x="677967" y="5661248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1" name="내용 개체 틀 2"/>
          <p:cNvSpPr>
            <a:spLocks noGrp="1"/>
          </p:cNvSpPr>
          <p:nvPr>
            <p:ph idx="18"/>
          </p:nvPr>
        </p:nvSpPr>
        <p:spPr>
          <a:xfrm>
            <a:off x="2855640" y="674443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2" name="내용 개체 틀 2"/>
          <p:cNvSpPr>
            <a:spLocks noGrp="1"/>
          </p:cNvSpPr>
          <p:nvPr>
            <p:ph idx="19"/>
          </p:nvPr>
        </p:nvSpPr>
        <p:spPr>
          <a:xfrm>
            <a:off x="2855640" y="2690664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3" name="내용 개체 틀 2"/>
          <p:cNvSpPr>
            <a:spLocks noGrp="1"/>
          </p:cNvSpPr>
          <p:nvPr>
            <p:ph idx="20"/>
          </p:nvPr>
        </p:nvSpPr>
        <p:spPr>
          <a:xfrm>
            <a:off x="2855640" y="3645027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4" name="내용 개체 틀 2"/>
          <p:cNvSpPr>
            <a:spLocks noGrp="1"/>
          </p:cNvSpPr>
          <p:nvPr>
            <p:ph idx="21"/>
          </p:nvPr>
        </p:nvSpPr>
        <p:spPr>
          <a:xfrm>
            <a:off x="2855640" y="5661248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5" name="내용 개체 틀 2"/>
          <p:cNvSpPr>
            <a:spLocks noGrp="1"/>
          </p:cNvSpPr>
          <p:nvPr>
            <p:ph idx="22"/>
          </p:nvPr>
        </p:nvSpPr>
        <p:spPr>
          <a:xfrm>
            <a:off x="5003619" y="668887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6" name="내용 개체 틀 2"/>
          <p:cNvSpPr>
            <a:spLocks noGrp="1"/>
          </p:cNvSpPr>
          <p:nvPr>
            <p:ph idx="23"/>
          </p:nvPr>
        </p:nvSpPr>
        <p:spPr>
          <a:xfrm>
            <a:off x="5003619" y="2685108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7" name="내용 개체 틀 2"/>
          <p:cNvSpPr>
            <a:spLocks noGrp="1"/>
          </p:cNvSpPr>
          <p:nvPr>
            <p:ph idx="24"/>
          </p:nvPr>
        </p:nvSpPr>
        <p:spPr>
          <a:xfrm>
            <a:off x="5003619" y="3639471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8" name="내용 개체 틀 2"/>
          <p:cNvSpPr>
            <a:spLocks noGrp="1"/>
          </p:cNvSpPr>
          <p:nvPr>
            <p:ph idx="25"/>
          </p:nvPr>
        </p:nvSpPr>
        <p:spPr>
          <a:xfrm>
            <a:off x="5003619" y="5655692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29" name="내용 개체 틀 2"/>
          <p:cNvSpPr>
            <a:spLocks noGrp="1"/>
          </p:cNvSpPr>
          <p:nvPr>
            <p:ph idx="26"/>
          </p:nvPr>
        </p:nvSpPr>
        <p:spPr>
          <a:xfrm>
            <a:off x="7137484" y="668887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0" name="내용 개체 틀 2"/>
          <p:cNvSpPr>
            <a:spLocks noGrp="1"/>
          </p:cNvSpPr>
          <p:nvPr>
            <p:ph idx="27"/>
          </p:nvPr>
        </p:nvSpPr>
        <p:spPr>
          <a:xfrm>
            <a:off x="7137484" y="2685108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1" name="내용 개체 틀 2"/>
          <p:cNvSpPr>
            <a:spLocks noGrp="1"/>
          </p:cNvSpPr>
          <p:nvPr>
            <p:ph idx="28"/>
          </p:nvPr>
        </p:nvSpPr>
        <p:spPr>
          <a:xfrm>
            <a:off x="7137484" y="3639471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2" name="내용 개체 틀 2"/>
          <p:cNvSpPr>
            <a:spLocks noGrp="1"/>
          </p:cNvSpPr>
          <p:nvPr>
            <p:ph idx="29"/>
          </p:nvPr>
        </p:nvSpPr>
        <p:spPr>
          <a:xfrm>
            <a:off x="7137484" y="5655692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3" name="내용 개체 틀 2"/>
          <p:cNvSpPr>
            <a:spLocks noGrp="1"/>
          </p:cNvSpPr>
          <p:nvPr>
            <p:ph idx="30"/>
          </p:nvPr>
        </p:nvSpPr>
        <p:spPr>
          <a:xfrm>
            <a:off x="9262419" y="674444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4" name="내용 개체 틀 2"/>
          <p:cNvSpPr>
            <a:spLocks noGrp="1"/>
          </p:cNvSpPr>
          <p:nvPr>
            <p:ph idx="31"/>
          </p:nvPr>
        </p:nvSpPr>
        <p:spPr>
          <a:xfrm>
            <a:off x="9262419" y="2690665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5" name="내용 개체 틀 2"/>
          <p:cNvSpPr>
            <a:spLocks noGrp="1"/>
          </p:cNvSpPr>
          <p:nvPr>
            <p:ph idx="32"/>
          </p:nvPr>
        </p:nvSpPr>
        <p:spPr>
          <a:xfrm>
            <a:off x="9262419" y="3645028"/>
            <a:ext cx="2033657" cy="201622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6" name="내용 개체 틀 2"/>
          <p:cNvSpPr>
            <a:spLocks noGrp="1"/>
          </p:cNvSpPr>
          <p:nvPr>
            <p:ph idx="33"/>
          </p:nvPr>
        </p:nvSpPr>
        <p:spPr>
          <a:xfrm>
            <a:off x="9262419" y="5661249"/>
            <a:ext cx="2033657" cy="432047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050" b="1"/>
            </a:lvl1pPr>
            <a:lvl2pPr algn="l"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255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9376" y="365125"/>
            <a:ext cx="11233248" cy="4715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9376" y="969069"/>
            <a:ext cx="11233248" cy="5700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61496328-FE42-416A-AC3C-9DD35FC67F7C}"/>
              </a:ext>
            </a:extLst>
          </p:cNvPr>
          <p:cNvSpPr txBox="1">
            <a:spLocks/>
          </p:cNvSpPr>
          <p:nvPr userDrawn="1"/>
        </p:nvSpPr>
        <p:spPr>
          <a:xfrm>
            <a:off x="11353800" y="6492875"/>
            <a:ext cx="838200" cy="365125"/>
          </a:xfrm>
          <a:prstGeom prst="rect">
            <a:avLst/>
          </a:prstGeom>
        </p:spPr>
        <p:txBody>
          <a:bodyPr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DD271B0-CD9E-FF44-AFA6-0BF100DD5473}" type="slidenum">
              <a:rPr kumimoji="1" lang="ko-KR" altLang="en-US" sz="1200" b="1" smtClean="0"/>
              <a:pPr algn="r"/>
              <a:t>‹#›</a:t>
            </a:fld>
            <a:endParaRPr kumimoji="1"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08207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05" r:id="rId2"/>
    <p:sldLayoutId id="2147483706" r:id="rId3"/>
    <p:sldLayoutId id="2147483675" r:id="rId4"/>
    <p:sldLayoutId id="2147483727" r:id="rId5"/>
    <p:sldLayoutId id="2147483674" r:id="rId6"/>
    <p:sldLayoutId id="2147483656" r:id="rId7"/>
    <p:sldLayoutId id="2147483695" r:id="rId8"/>
    <p:sldLayoutId id="2147483728" r:id="rId9"/>
    <p:sldLayoutId id="2147483725" r:id="rId10"/>
    <p:sldLayoutId id="2147483699" r:id="rId11"/>
    <p:sldLayoutId id="2147483707" r:id="rId12"/>
    <p:sldLayoutId id="2147483708" r:id="rId13"/>
    <p:sldLayoutId id="2147483691" r:id="rId14"/>
    <p:sldLayoutId id="2147483692" r:id="rId15"/>
    <p:sldLayoutId id="2147483697" r:id="rId16"/>
    <p:sldLayoutId id="2147483676" r:id="rId17"/>
    <p:sldLayoutId id="2147483689" r:id="rId18"/>
    <p:sldLayoutId id="2147483682" r:id="rId1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10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1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cap="small" dirty="0"/>
              <a:t>메타버스프로그래밍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cap="small" dirty="0"/>
              <a:t>(</a:t>
            </a:r>
            <a:r>
              <a:rPr lang="ko-KR" altLang="en-US" cap="small" dirty="0"/>
              <a:t>페스트 러너</a:t>
            </a:r>
            <a:r>
              <a:rPr lang="en-US" altLang="ko-KR" cap="small" dirty="0"/>
              <a:t>(pest runner))</a:t>
            </a:r>
            <a:endParaRPr lang="ko-KR" altLang="en-US" cap="small" dirty="0"/>
          </a:p>
        </p:txBody>
      </p:sp>
      <p:sp>
        <p:nvSpPr>
          <p:cNvPr id="4" name="내용 개체 틀 3"/>
          <p:cNvSpPr>
            <a:spLocks noGrp="1"/>
          </p:cNvSpPr>
          <p:nvPr>
            <p:ph idx="10"/>
          </p:nvPr>
        </p:nvSpPr>
        <p:spPr>
          <a:xfrm>
            <a:off x="1524000" y="4365104"/>
            <a:ext cx="9144000" cy="216024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디지털미디어학과</a:t>
            </a:r>
            <a:r>
              <a:rPr lang="en-US" altLang="ko-KR" dirty="0">
                <a:latin typeface="+mn-ea"/>
              </a:rPr>
              <a:t>) (</a:t>
            </a:r>
            <a:r>
              <a:rPr lang="ko-KR" altLang="en-US" dirty="0" err="1">
                <a:latin typeface="+mn-ea"/>
              </a:rPr>
              <a:t>서문현모</a:t>
            </a:r>
            <a:r>
              <a:rPr lang="en-US" altLang="ko-KR" dirty="0">
                <a:latin typeface="+mn-ea"/>
              </a:rPr>
              <a:t>)</a:t>
            </a:r>
          </a:p>
          <a:p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디지털미디어학과</a:t>
            </a:r>
            <a:r>
              <a:rPr lang="en-US" altLang="ko-KR" dirty="0">
                <a:latin typeface="+mn-ea"/>
              </a:rPr>
              <a:t>) (</a:t>
            </a:r>
            <a:r>
              <a:rPr lang="ko-KR" altLang="en-US" dirty="0">
                <a:latin typeface="+mn-ea"/>
              </a:rPr>
              <a:t>최형민</a:t>
            </a:r>
            <a:r>
              <a:rPr lang="en-US" altLang="ko-KR" dirty="0">
                <a:latin typeface="+mn-ea"/>
              </a:rPr>
              <a:t>)</a:t>
            </a:r>
          </a:p>
          <a:p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디지털미디어학과</a:t>
            </a:r>
            <a:r>
              <a:rPr lang="en-US" altLang="ko-KR" dirty="0">
                <a:latin typeface="+mn-ea"/>
              </a:rPr>
              <a:t>) (</a:t>
            </a:r>
            <a:r>
              <a:rPr lang="ko-KR" altLang="en-US" dirty="0">
                <a:latin typeface="+mn-ea"/>
              </a:rPr>
              <a:t>정재훈</a:t>
            </a:r>
            <a:r>
              <a:rPr lang="en-US" altLang="ko-KR" dirty="0">
                <a:latin typeface="+mn-ea"/>
              </a:rPr>
              <a:t>)</a:t>
            </a:r>
          </a:p>
          <a:p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디지털미디어학과</a:t>
            </a:r>
            <a:r>
              <a:rPr lang="en-US" altLang="ko-KR" dirty="0">
                <a:latin typeface="+mn-ea"/>
              </a:rPr>
              <a:t>) (</a:t>
            </a:r>
            <a:r>
              <a:rPr lang="ko-KR" altLang="en-US" dirty="0">
                <a:latin typeface="+mn-ea"/>
              </a:rPr>
              <a:t>이민훈</a:t>
            </a:r>
            <a:r>
              <a:rPr lang="en-US" altLang="ko-KR" dirty="0">
                <a:latin typeface="+mn-ea"/>
              </a:rPr>
              <a:t>)</a:t>
            </a:r>
          </a:p>
          <a:p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3291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 스토리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미래의 도심</a:t>
            </a:r>
            <a:r>
              <a:rPr lang="en-US" altLang="ko-KR" dirty="0"/>
              <a:t>, </a:t>
            </a:r>
            <a:r>
              <a:rPr lang="ko-KR" altLang="en-US" dirty="0"/>
              <a:t>회색으로 물든 하늘과 더럽혀진 공기 속에서 변이된 벌레들이 인간의 삶을 위협하기 시작했다</a:t>
            </a:r>
            <a:r>
              <a:rPr lang="en-US" altLang="ko-KR" dirty="0"/>
              <a:t>. </a:t>
            </a:r>
            <a:r>
              <a:rPr lang="ko-KR" altLang="en-US" dirty="0"/>
              <a:t>오염된 환경은 곤충들을 더욱 거대하고 공격적으로 변화시켰고</a:t>
            </a:r>
            <a:r>
              <a:rPr lang="en-US" altLang="ko-KR" dirty="0"/>
              <a:t>, </a:t>
            </a:r>
            <a:r>
              <a:rPr lang="ko-KR" altLang="en-US" dirty="0"/>
              <a:t>이들은 더 이상 단순한 해충이 아닌</a:t>
            </a:r>
            <a:r>
              <a:rPr lang="en-US" altLang="ko-KR" dirty="0"/>
              <a:t>, </a:t>
            </a:r>
            <a:r>
              <a:rPr lang="ko-KR" altLang="en-US" dirty="0"/>
              <a:t>사람을 공격하는 재앙으로 변모했다</a:t>
            </a:r>
            <a:r>
              <a:rPr lang="en-US" altLang="ko-KR" dirty="0"/>
              <a:t>. </a:t>
            </a:r>
            <a:r>
              <a:rPr lang="ko-KR" altLang="en-US" dirty="0"/>
              <a:t>도시는 생존을 위해 필사적으로 변화를 꾀했지만</a:t>
            </a:r>
            <a:r>
              <a:rPr lang="en-US" altLang="ko-KR" dirty="0"/>
              <a:t>, </a:t>
            </a:r>
            <a:r>
              <a:rPr lang="ko-KR" altLang="en-US" dirty="0"/>
              <a:t>벌레 떼의 증가 속도와 위협을 막기엔 역부족이었다</a:t>
            </a:r>
            <a:r>
              <a:rPr lang="en-US" altLang="ko-KR" dirty="0"/>
              <a:t>. </a:t>
            </a:r>
            <a:r>
              <a:rPr lang="ko-KR" altLang="en-US" dirty="0"/>
              <a:t>이에</a:t>
            </a:r>
            <a:r>
              <a:rPr lang="en-US" altLang="ko-KR" dirty="0"/>
              <a:t>, </a:t>
            </a:r>
            <a:r>
              <a:rPr lang="ko-KR" altLang="en-US" dirty="0"/>
              <a:t>각 도시는 “페스트 </a:t>
            </a:r>
            <a:r>
              <a:rPr lang="ko-KR" altLang="en-US" dirty="0" err="1"/>
              <a:t>러너”라는</a:t>
            </a:r>
            <a:r>
              <a:rPr lang="ko-KR" altLang="en-US" dirty="0"/>
              <a:t> 최첨단 디지털 장비를 시민들에게 보급했다</a:t>
            </a:r>
            <a:r>
              <a:rPr lang="en-US" altLang="ko-KR" dirty="0"/>
              <a:t>. </a:t>
            </a:r>
            <a:r>
              <a:rPr lang="ko-KR" altLang="en-US" dirty="0"/>
              <a:t>이 장비는 사용자가 실시간으로 도심을 스캔하며</a:t>
            </a:r>
            <a:r>
              <a:rPr lang="en-US" altLang="ko-KR" dirty="0"/>
              <a:t>, </a:t>
            </a:r>
            <a:r>
              <a:rPr lang="ko-KR" altLang="en-US" dirty="0"/>
              <a:t>근처에 있는 벌레 떼의 위치와 안전한 도피 경로를 제공한다</a:t>
            </a:r>
            <a:r>
              <a:rPr lang="en-US" altLang="ko-KR" dirty="0"/>
              <a:t>. </a:t>
            </a:r>
            <a:r>
              <a:rPr lang="ko-KR" altLang="en-US" dirty="0"/>
              <a:t>시민들은 페스트 러너를 착용하고</a:t>
            </a:r>
            <a:r>
              <a:rPr lang="en-US" altLang="ko-KR" dirty="0"/>
              <a:t>, </a:t>
            </a:r>
            <a:r>
              <a:rPr lang="ko-KR" altLang="en-US" dirty="0"/>
              <a:t>살아남기 위해 벌레의 추격을 피하며 안전 구역으로 도망치게 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62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ko-KR" altLang="en-US" b="1" dirty="0"/>
              <a:t>게임 배경</a:t>
            </a:r>
            <a:endParaRPr lang="ko-KR" altLang="en-US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미래의 오염된 도시에서 돌연변이 벌레들이 인간의 생존을 위협하는 </a:t>
            </a:r>
            <a:r>
              <a:rPr lang="ko-KR" altLang="en-US" dirty="0" err="1"/>
              <a:t>디스토피아적</a:t>
            </a:r>
            <a:r>
              <a:rPr lang="ko-KR" altLang="en-US" dirty="0"/>
              <a:t> 세계관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환경 오염으로 인해 더욱 거대하고 공격적으로 변한 벌레들이 도심에 침투하여 재앙이 된 상황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주 장비 </a:t>
            </a:r>
            <a:r>
              <a:rPr lang="en-US" altLang="ko-KR" b="1" dirty="0"/>
              <a:t>- </a:t>
            </a:r>
            <a:r>
              <a:rPr lang="ko-KR" altLang="en-US" b="1" dirty="0"/>
              <a:t>페스트 러너</a:t>
            </a:r>
            <a:r>
              <a:rPr lang="en-US" altLang="ko-KR" dirty="0"/>
              <a:t>(</a:t>
            </a:r>
            <a:r>
              <a:rPr lang="ko-KR" altLang="en-US" dirty="0"/>
              <a:t>핸드폰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시민들은 </a:t>
            </a:r>
            <a:r>
              <a:rPr lang="en-US" altLang="ko-KR" dirty="0"/>
              <a:t>"</a:t>
            </a:r>
            <a:r>
              <a:rPr lang="ko-KR" altLang="en-US" dirty="0"/>
              <a:t>페스트 러너</a:t>
            </a:r>
            <a:r>
              <a:rPr lang="en-US" altLang="ko-KR" dirty="0"/>
              <a:t>"</a:t>
            </a:r>
            <a:r>
              <a:rPr lang="ko-KR" altLang="en-US" dirty="0"/>
              <a:t>라는 디지털 장비를 착용하여 실시간으로 주변을 스캔하고 벌레 떼의 위치와 안전한 도피 경로를 파악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페스트 러너는 생존과 도피를 돕는 고도화된 장비로</a:t>
            </a:r>
            <a:r>
              <a:rPr lang="en-US" altLang="ko-KR" dirty="0"/>
              <a:t>, </a:t>
            </a:r>
            <a:r>
              <a:rPr lang="ko-KR" altLang="en-US" dirty="0"/>
              <a:t>시민들이 훈련을 통해 벌레의 추격을 피하며 안전 구역으로 이동할 수 있도록 돕는다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게임 목적</a:t>
            </a:r>
            <a:endParaRPr lang="ko-KR" altLang="en-US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운동을 격려하는 것을 목표로 하며</a:t>
            </a:r>
            <a:r>
              <a:rPr lang="en-US" altLang="ko-KR" dirty="0"/>
              <a:t>, </a:t>
            </a:r>
            <a:r>
              <a:rPr lang="ko-KR" altLang="en-US" dirty="0"/>
              <a:t>벌레에게 쫓기는 상황을 통해 달리기의 동기를 제공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플레이어는 도시 속에서 달리며 벌레 떼를 피하고 제한된 시간 안에 정해진 목표를 달성해야 한다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미션 제한 사항</a:t>
            </a:r>
            <a:endParaRPr lang="ko-KR" altLang="en-US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시간 제한</a:t>
            </a:r>
            <a:r>
              <a:rPr lang="en-US" altLang="ko-KR" dirty="0"/>
              <a:t>: </a:t>
            </a:r>
            <a:r>
              <a:rPr lang="ko-KR" altLang="en-US" dirty="0"/>
              <a:t>주어진 시간 내에 미션을 수행해야 함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거리 조건</a:t>
            </a:r>
            <a:r>
              <a:rPr lang="en-US" altLang="ko-KR" dirty="0"/>
              <a:t>: </a:t>
            </a:r>
            <a:r>
              <a:rPr lang="ko-KR" altLang="en-US" dirty="0"/>
              <a:t>벌레에게 잡히지 않을 충분한 거리를 유지해야 함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경로 제한</a:t>
            </a:r>
            <a:r>
              <a:rPr lang="en-US" altLang="ko-KR" dirty="0"/>
              <a:t>: </a:t>
            </a:r>
            <a:r>
              <a:rPr lang="ko-KR" altLang="en-US" dirty="0"/>
              <a:t>정해진 루트에서 벗어나지 않고 목표 지점에 도달해야 함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랜드마크 및 스탬프 수집 기능</a:t>
            </a:r>
            <a:endParaRPr lang="ko-KR" altLang="en-US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플레이 도중 특정 랜드마크에 도달 시</a:t>
            </a:r>
            <a:r>
              <a:rPr lang="en-US" altLang="ko-KR" dirty="0"/>
              <a:t>, </a:t>
            </a:r>
            <a:r>
              <a:rPr lang="ko-KR" altLang="en-US" dirty="0"/>
              <a:t>멋진 문양의 스탬프를 수집할 수 있는 기능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스탬프는 게임의 주요 수집 요소로</a:t>
            </a:r>
            <a:r>
              <a:rPr lang="en-US" altLang="ko-KR" dirty="0"/>
              <a:t>, </a:t>
            </a:r>
            <a:r>
              <a:rPr lang="ko-KR" altLang="en-US" dirty="0"/>
              <a:t>플레이어가 여러 랜드마크를 방문하며 컬렉션을 완성할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모든 특징이 결합되어</a:t>
            </a:r>
            <a:r>
              <a:rPr lang="en-US" altLang="ko-KR" dirty="0"/>
              <a:t>, </a:t>
            </a:r>
            <a:r>
              <a:rPr lang="ko-KR" altLang="en-US" dirty="0"/>
              <a:t>페스트 러너는 운동과 게임을 결합해 </a:t>
            </a:r>
            <a:r>
              <a:rPr lang="ko-KR" altLang="en-US" dirty="0" err="1"/>
              <a:t>몰입감</a:t>
            </a:r>
            <a:r>
              <a:rPr lang="ko-KR" altLang="en-US" dirty="0"/>
              <a:t> 넘치는 체험을 제공하며</a:t>
            </a:r>
            <a:r>
              <a:rPr lang="en-US" altLang="ko-KR" dirty="0"/>
              <a:t>, </a:t>
            </a:r>
            <a:r>
              <a:rPr lang="ko-KR" altLang="en-US" dirty="0"/>
              <a:t>플레이어가 환경 위기와 생존의 긴박감을 느끼며 즐길 수 있는 독특한 게임이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117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배경이 되는 현실 공간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게임의 현실 배경은 광교호수공원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팔달산</a:t>
            </a:r>
            <a:r>
              <a:rPr lang="en-US" altLang="ko-KR" dirty="0"/>
              <a:t>, </a:t>
            </a:r>
            <a:r>
              <a:rPr lang="ko-KR" altLang="en-US" dirty="0"/>
              <a:t>화성행궁</a:t>
            </a:r>
            <a:r>
              <a:rPr lang="en-US" altLang="ko-KR" dirty="0"/>
              <a:t>, </a:t>
            </a:r>
            <a:r>
              <a:rPr lang="ko-KR" altLang="en-US" dirty="0"/>
              <a:t>기흥호수와 같은 수원 내의 산책로가 있는 관광지들로 선정했으며</a:t>
            </a:r>
            <a:r>
              <a:rPr lang="en-US" altLang="ko-KR" dirty="0"/>
              <a:t>, </a:t>
            </a:r>
            <a:r>
              <a:rPr lang="ko-KR" altLang="en-US" dirty="0"/>
              <a:t>플레이어는 각 장소의 러닝 코스를 달리며 게임과 상호작용할 수 있습니다</a:t>
            </a:r>
            <a:r>
              <a:rPr lang="en-US" altLang="ko-KR" dirty="0"/>
              <a:t>. </a:t>
            </a:r>
            <a:r>
              <a:rPr lang="ko-KR" altLang="en-US" dirty="0"/>
              <a:t>핸드폰을 통해 </a:t>
            </a:r>
            <a:r>
              <a:rPr lang="en-US" altLang="ko-KR" dirty="0"/>
              <a:t>AR</a:t>
            </a:r>
            <a:r>
              <a:rPr lang="ko-KR" altLang="en-US" dirty="0"/>
              <a:t>로 벌레가 뒤에서 쫓아오는 상황을 실감 나게 확인할 수 있으며 경로를 확인하며 달릴 수 있습니다</a:t>
            </a:r>
            <a:r>
              <a:rPr lang="en-US" altLang="ko-KR" dirty="0"/>
              <a:t>. </a:t>
            </a:r>
            <a:r>
              <a:rPr lang="ko-KR" altLang="en-US" dirty="0"/>
              <a:t>또한 각 로케이션에서 벌레를 피해 무사히 안전 지역에 도달하게 되면 미션을 클리어 한 것으로 간주하며</a:t>
            </a:r>
            <a:r>
              <a:rPr lang="en-US" altLang="ko-KR" dirty="0"/>
              <a:t>, </a:t>
            </a:r>
            <a:r>
              <a:rPr lang="ko-KR" altLang="en-US" dirty="0"/>
              <a:t>클리어 보상인 독특한 디자인의 스탬프를 획득할 수 있습니다</a:t>
            </a:r>
            <a:r>
              <a:rPr lang="en-US" altLang="ko-KR" dirty="0"/>
              <a:t>. </a:t>
            </a:r>
            <a:r>
              <a:rPr lang="ko-KR" altLang="en-US" dirty="0"/>
              <a:t>이러한 컨텐츠로 인해</a:t>
            </a:r>
            <a:r>
              <a:rPr lang="en-US" altLang="ko-KR" dirty="0"/>
              <a:t> </a:t>
            </a:r>
            <a:r>
              <a:rPr lang="ko-KR" altLang="en-US" dirty="0"/>
              <a:t>수집형 게임의 재미와 함께 광교호수공원의 문화적 요소를 자연스럽게 학습할 수 있습니다</a:t>
            </a:r>
            <a:r>
              <a:rPr lang="en-US" altLang="ko-KR" dirty="0"/>
              <a:t>. GPS </a:t>
            </a:r>
            <a:r>
              <a:rPr lang="ko-KR" altLang="en-US" dirty="0"/>
              <a:t>연결이 성공적으로 이루어질 경우</a:t>
            </a:r>
            <a:r>
              <a:rPr lang="en-US" altLang="ko-KR" dirty="0"/>
              <a:t>, </a:t>
            </a:r>
            <a:r>
              <a:rPr lang="ko-KR" altLang="en-US" dirty="0"/>
              <a:t>역사적 관광 명소가 많은 다른 지역도 추가 구현될 예정입니다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838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사건 전개에 따른 </a:t>
            </a:r>
            <a:r>
              <a:rPr lang="en-US" altLang="ko-KR" dirty="0"/>
              <a:t>AR </a:t>
            </a:r>
            <a:r>
              <a:rPr lang="ko-KR" altLang="en-US" dirty="0"/>
              <a:t>작용 방식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A739F2B-2951-8D62-DFEA-AC79DDA91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66" y="948258"/>
            <a:ext cx="10818633" cy="5505077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벌레의 등장 및 추격 상황 </a:t>
            </a:r>
            <a:r>
              <a:rPr lang="en-US" altLang="ko-KR" dirty="0"/>
              <a:t>(</a:t>
            </a:r>
            <a:r>
              <a:rPr lang="ko-KR" altLang="en-US" dirty="0"/>
              <a:t>위협 요소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AR </a:t>
            </a:r>
            <a:r>
              <a:rPr lang="ko-KR" altLang="en-US" dirty="0"/>
              <a:t>적용 방식</a:t>
            </a:r>
            <a:r>
              <a:rPr lang="en-US" altLang="ko-KR" dirty="0"/>
              <a:t>: </a:t>
            </a:r>
            <a:r>
              <a:rPr lang="ko-KR" altLang="en-US" b="0" dirty="0"/>
              <a:t>게임 시작 시</a:t>
            </a:r>
            <a:r>
              <a:rPr lang="en-US" altLang="ko-KR" b="0" dirty="0"/>
              <a:t>, </a:t>
            </a:r>
            <a:r>
              <a:rPr lang="ko-KR" altLang="en-US" b="0" dirty="0"/>
              <a:t>플레이어의 시야에 벌레들이 등장하고 플레이어를 추격하는 소리 등이 실감 나게 구현됩니다</a:t>
            </a:r>
            <a:r>
              <a:rPr lang="en-US" altLang="ko-KR" b="0" dirty="0"/>
              <a:t>. </a:t>
            </a:r>
            <a:r>
              <a:rPr lang="ko-KR" altLang="en-US" b="0" dirty="0"/>
              <a:t>스마트폰 화면을 통해 벌레들이 실제로 플레이어 뒤에서 쫓아오는 듯한 연출을 </a:t>
            </a:r>
            <a:r>
              <a:rPr lang="en-US" altLang="ko-KR" b="0" dirty="0"/>
              <a:t>AR</a:t>
            </a:r>
            <a:r>
              <a:rPr lang="ko-KR" altLang="en-US" b="0" dirty="0"/>
              <a:t>로 보여줍니다</a:t>
            </a:r>
            <a:r>
              <a:rPr lang="en-US" altLang="ko-KR" b="0" dirty="0"/>
              <a:t>.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효과</a:t>
            </a:r>
            <a:r>
              <a:rPr lang="en-US" altLang="ko-KR" dirty="0"/>
              <a:t>: </a:t>
            </a:r>
            <a:r>
              <a:rPr lang="ko-KR" altLang="en-US" b="0" dirty="0"/>
              <a:t>긴박감과 몰입감을 제공하여 달리기의 동기를 부여하고</a:t>
            </a:r>
            <a:r>
              <a:rPr lang="en-US" altLang="ko-KR" b="0" dirty="0"/>
              <a:t>, </a:t>
            </a:r>
            <a:r>
              <a:rPr lang="ko-KR" altLang="en-US" b="0" dirty="0"/>
              <a:t>플레이어가 실제로 위협을 피하며 달리는 느낌을 주도록 </a:t>
            </a:r>
            <a:r>
              <a:rPr lang="ko-KR" altLang="en-US" b="0" dirty="0" err="1"/>
              <a:t>돕습니다</a:t>
            </a:r>
            <a:r>
              <a:rPr lang="en-US" altLang="ko-KR" b="0" dirty="0"/>
              <a:t>.</a:t>
            </a:r>
          </a:p>
          <a:p>
            <a:r>
              <a:rPr lang="ko-KR" altLang="en-US" dirty="0"/>
              <a:t>목표 구역 탐색 및 도달 </a:t>
            </a:r>
            <a:r>
              <a:rPr lang="en-US" altLang="ko-KR" dirty="0"/>
              <a:t>(</a:t>
            </a:r>
            <a:r>
              <a:rPr lang="ko-KR" altLang="en-US" dirty="0"/>
              <a:t>목표 설정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AR </a:t>
            </a:r>
            <a:r>
              <a:rPr lang="ko-KR" altLang="en-US" dirty="0"/>
              <a:t>적용 방식</a:t>
            </a:r>
            <a:r>
              <a:rPr lang="en-US" altLang="ko-KR" dirty="0"/>
              <a:t>: </a:t>
            </a:r>
            <a:r>
              <a:rPr lang="ko-KR" altLang="en-US" b="0" dirty="0"/>
              <a:t>플레이어가 목표한 안전 구역에 가까워지면 </a:t>
            </a:r>
            <a:r>
              <a:rPr lang="en-US" altLang="ko-KR" b="0" dirty="0"/>
              <a:t>AR </a:t>
            </a:r>
            <a:r>
              <a:rPr lang="ko-KR" altLang="en-US" b="0" dirty="0"/>
              <a:t>화면에 가상의 가이드라인이나 빛나는 지표가 표시됩니다</a:t>
            </a:r>
            <a:r>
              <a:rPr lang="en-US" altLang="ko-KR" b="0" dirty="0"/>
              <a:t>. </a:t>
            </a:r>
            <a:r>
              <a:rPr lang="ko-KR" altLang="en-US" b="0" dirty="0"/>
              <a:t>이로써 플레이어는 안전한 장소를 직관적으로 인지하고 도달할 수 있습니다</a:t>
            </a:r>
            <a:r>
              <a:rPr lang="en-US" altLang="ko-KR" b="0" dirty="0"/>
              <a:t>.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효과</a:t>
            </a:r>
            <a:r>
              <a:rPr lang="en-US" altLang="ko-KR" dirty="0"/>
              <a:t>:</a:t>
            </a:r>
            <a:r>
              <a:rPr lang="en-US" altLang="ko-KR" b="0" dirty="0"/>
              <a:t> </a:t>
            </a:r>
            <a:r>
              <a:rPr lang="ko-KR" altLang="en-US" b="0" dirty="0"/>
              <a:t>플레이어가 목표를 시각적으로 확인하며 움직임을 조절하게 하고</a:t>
            </a:r>
            <a:r>
              <a:rPr lang="en-US" altLang="ko-KR" b="0" dirty="0"/>
              <a:t>, </a:t>
            </a:r>
            <a:r>
              <a:rPr lang="ko-KR" altLang="en-US" b="0" dirty="0"/>
              <a:t>안전 구역에 도착할 때마다 성취감을 느낄 수 있게 합니다</a:t>
            </a:r>
            <a:r>
              <a:rPr lang="en-US" altLang="ko-KR" b="0" dirty="0"/>
              <a:t>.</a:t>
            </a:r>
          </a:p>
          <a:p>
            <a:r>
              <a:rPr lang="ko-KR" altLang="en-US" dirty="0"/>
              <a:t>미션 수행 중 도전 요소와 보상 표시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AR </a:t>
            </a:r>
            <a:r>
              <a:rPr lang="ko-KR" altLang="en-US" dirty="0"/>
              <a:t>적용 방식</a:t>
            </a:r>
            <a:r>
              <a:rPr lang="en-US" altLang="ko-KR" dirty="0"/>
              <a:t>: </a:t>
            </a:r>
            <a:r>
              <a:rPr lang="ko-KR" altLang="en-US" b="0" dirty="0"/>
              <a:t>특정 지점에 도달하거나 미션 중간에 제한 조건이 발생할 때</a:t>
            </a:r>
            <a:r>
              <a:rPr lang="en-US" altLang="ko-KR" b="0" dirty="0"/>
              <a:t>, AR</a:t>
            </a:r>
            <a:r>
              <a:rPr lang="ko-KR" altLang="en-US" b="0" dirty="0"/>
              <a:t>로 타이머</a:t>
            </a:r>
            <a:r>
              <a:rPr lang="en-US" altLang="ko-KR" b="0" dirty="0"/>
              <a:t>, </a:t>
            </a:r>
            <a:r>
              <a:rPr lang="ko-KR" altLang="en-US" b="0" dirty="0"/>
              <a:t>거리 측정기</a:t>
            </a:r>
            <a:r>
              <a:rPr lang="en-US" altLang="ko-KR" b="0" dirty="0"/>
              <a:t>, </a:t>
            </a:r>
            <a:r>
              <a:rPr lang="ko-KR" altLang="en-US" b="0" dirty="0"/>
              <a:t>또는 경고 표시 등이 화면에 나타납니다</a:t>
            </a:r>
            <a:r>
              <a:rPr lang="en-US" altLang="ko-KR" b="0" dirty="0"/>
              <a:t>. </a:t>
            </a:r>
            <a:r>
              <a:rPr lang="ko-KR" altLang="en-US" b="0" dirty="0"/>
              <a:t>예를 들어</a:t>
            </a:r>
            <a:r>
              <a:rPr lang="en-US" altLang="ko-KR" b="0" dirty="0"/>
              <a:t>, </a:t>
            </a:r>
            <a:r>
              <a:rPr lang="ko-KR" altLang="en-US" b="0" dirty="0"/>
              <a:t>벌레와 가까워지면 화면에 </a:t>
            </a:r>
            <a:r>
              <a:rPr lang="ko-KR" altLang="en-US" b="0" dirty="0" err="1"/>
              <a:t>경고색</a:t>
            </a:r>
            <a:r>
              <a:rPr lang="ko-KR" altLang="en-US" b="0" dirty="0"/>
              <a:t> 효과나 알람을 통해 주의를 주고</a:t>
            </a:r>
            <a:r>
              <a:rPr lang="en-US" altLang="ko-KR" b="0" dirty="0"/>
              <a:t>, </a:t>
            </a:r>
            <a:r>
              <a:rPr lang="ko-KR" altLang="en-US" b="0" dirty="0"/>
              <a:t>특정 거리 이상 벌레와 떨어졌을 때 축하 메시지나 에너지가 채워지는 효과를 시각적으로 연출합니다</a:t>
            </a:r>
            <a:r>
              <a:rPr lang="en-US" altLang="ko-KR" b="0" dirty="0"/>
              <a:t>.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효과</a:t>
            </a:r>
            <a:r>
              <a:rPr lang="en-US" altLang="ko-KR" dirty="0"/>
              <a:t>: </a:t>
            </a:r>
            <a:r>
              <a:rPr lang="ko-KR" altLang="en-US" b="0" dirty="0"/>
              <a:t>미션 수행 중 진행 상황을 실시간으로 </a:t>
            </a:r>
            <a:r>
              <a:rPr lang="ko-KR" altLang="en-US" b="0" dirty="0" err="1"/>
              <a:t>시각화하여</a:t>
            </a:r>
            <a:r>
              <a:rPr lang="ko-KR" altLang="en-US" b="0" dirty="0"/>
              <a:t> 집중력과 몰입감을 유지시키고</a:t>
            </a:r>
            <a:r>
              <a:rPr lang="en-US" altLang="ko-KR" b="0" dirty="0"/>
              <a:t>, </a:t>
            </a:r>
            <a:r>
              <a:rPr lang="ko-KR" altLang="en-US" b="0" dirty="0"/>
              <a:t>제한 요소가 있는 경우 플레이어가 계속 도전하게끔 자극을 줍니다</a:t>
            </a:r>
            <a:r>
              <a:rPr lang="en-US" altLang="ko-KR" b="0" dirty="0"/>
              <a:t>.</a:t>
            </a:r>
          </a:p>
          <a:p>
            <a:r>
              <a:rPr lang="ko-KR" altLang="en-US" dirty="0"/>
              <a:t>랜드마크 도달 시 스탬프 획득 </a:t>
            </a:r>
            <a:r>
              <a:rPr lang="en-US" altLang="ko-KR" dirty="0"/>
              <a:t>(</a:t>
            </a:r>
            <a:r>
              <a:rPr lang="ko-KR" altLang="en-US" dirty="0"/>
              <a:t>수집 요소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AR </a:t>
            </a:r>
            <a:r>
              <a:rPr lang="ko-KR" altLang="en-US" dirty="0"/>
              <a:t>적용 방식</a:t>
            </a:r>
            <a:r>
              <a:rPr lang="en-US" altLang="ko-KR" dirty="0"/>
              <a:t>: </a:t>
            </a:r>
            <a:r>
              <a:rPr lang="ko-KR" altLang="en-US" b="0" dirty="0"/>
              <a:t>특정 랜드마크에 도착하면</a:t>
            </a:r>
            <a:r>
              <a:rPr lang="en-US" altLang="ko-KR" b="0" dirty="0"/>
              <a:t>, </a:t>
            </a:r>
            <a:r>
              <a:rPr lang="ko-KR" altLang="en-US" b="0" dirty="0"/>
              <a:t>해당 랜드마크를 상징하는 스탬프 아이템이 </a:t>
            </a:r>
            <a:r>
              <a:rPr lang="en-US" altLang="ko-KR" b="0" dirty="0"/>
              <a:t>AR </a:t>
            </a:r>
            <a:r>
              <a:rPr lang="ko-KR" altLang="en-US" b="0" dirty="0"/>
              <a:t>화면에 뜨며 수집할 수 있게 합니다</a:t>
            </a:r>
            <a:r>
              <a:rPr lang="en-US" altLang="ko-KR" b="0" dirty="0"/>
              <a:t>. </a:t>
            </a:r>
            <a:r>
              <a:rPr lang="ko-KR" altLang="en-US" b="0" dirty="0"/>
              <a:t>이때 스탬프를 직접 터치하거나 간단한 제스처로 획득하도록 하여 상호작용성을 높입니다</a:t>
            </a:r>
            <a:r>
              <a:rPr lang="en-US" altLang="ko-KR" b="0" dirty="0"/>
              <a:t>.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효과</a:t>
            </a:r>
            <a:r>
              <a:rPr lang="en-US" altLang="ko-KR" dirty="0"/>
              <a:t>: </a:t>
            </a:r>
            <a:r>
              <a:rPr lang="ko-KR" altLang="en-US" b="0" dirty="0"/>
              <a:t>수집형 게임 요소를 통해 플레이어에게 즐거움을 주며</a:t>
            </a:r>
            <a:r>
              <a:rPr lang="en-US" altLang="ko-KR" b="0" dirty="0"/>
              <a:t>, </a:t>
            </a:r>
            <a:r>
              <a:rPr lang="ko-KR" altLang="en-US" b="0" dirty="0"/>
              <a:t>다양한 랜드마크를 방문하는 동기 부여와 문화적 교육 효과도 제공합니다</a:t>
            </a:r>
            <a:r>
              <a:rPr lang="en-US" altLang="ko-KR" b="0" dirty="0"/>
              <a:t>.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1219121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몰입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ko-KR" altLang="en-US" b="1" dirty="0"/>
              <a:t>현실과 게임의 결합</a:t>
            </a:r>
            <a:br>
              <a:rPr lang="ko-KR" altLang="en-US" dirty="0"/>
            </a:br>
            <a:r>
              <a:rPr lang="en-US" altLang="ko-KR" sz="1400" b="0" dirty="0"/>
              <a:t>AR </a:t>
            </a:r>
            <a:r>
              <a:rPr lang="ko-KR" altLang="en-US" sz="1400" b="0" dirty="0"/>
              <a:t>기술을 통해 현실 공간인 광교호수공원에서 실제로 벌레가 쫓아오는 상황을 경험하게 되며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플레이어는 실시간으로 위험을 피하는 </a:t>
            </a:r>
            <a:r>
              <a:rPr lang="ko-KR" altLang="en-US" sz="1400" b="0" dirty="0" err="1"/>
              <a:t>몰입감</a:t>
            </a:r>
            <a:r>
              <a:rPr lang="ko-KR" altLang="en-US" sz="1400" b="0" dirty="0"/>
              <a:t> 넘치는 상황에 빠지게 됩니다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스마트폰 화면</a:t>
            </a:r>
            <a:r>
              <a:rPr lang="en-US" altLang="ko-KR" sz="1400" b="0" dirty="0"/>
              <a:t>(</a:t>
            </a:r>
            <a:r>
              <a:rPr lang="ko-KR" altLang="en-US" sz="1400" b="0" dirty="0"/>
              <a:t>페스트 러너</a:t>
            </a:r>
            <a:r>
              <a:rPr lang="en-US" altLang="ko-KR" sz="1400" b="0" dirty="0"/>
              <a:t>)</a:t>
            </a:r>
            <a:r>
              <a:rPr lang="ko-KR" altLang="en-US" sz="1400" b="0" dirty="0"/>
              <a:t>을 통해 벌레의 움직임과 거리감을 체감하면서 긴박한 생존 본능을 </a:t>
            </a:r>
            <a:r>
              <a:rPr lang="ko-KR" altLang="en-US" sz="1400" b="0" dirty="0" err="1"/>
              <a:t>자극받습니다</a:t>
            </a:r>
            <a:r>
              <a:rPr lang="en-US" altLang="ko-KR" sz="1400" b="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미션과 제한 조건</a:t>
            </a:r>
            <a:br>
              <a:rPr lang="ko-KR" altLang="en-US" dirty="0"/>
            </a:br>
            <a:r>
              <a:rPr lang="ko-KR" altLang="en-US" sz="1400" b="0" dirty="0"/>
              <a:t>각 미션에는 시간제한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벌레와의 거리 유지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정해진 경로 유지 등 다양한 제한 조건이 주어집니다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이 요소들은 플레이어에게 도전의식을 불러일으키며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단순히 달리기를 넘어서 목표를 달성하기 위한 전략적 사고와 집중을 요구합니다</a:t>
            </a:r>
            <a:r>
              <a:rPr lang="en-US" altLang="ko-KR" sz="1400" b="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컬렉션 요소</a:t>
            </a:r>
            <a:br>
              <a:rPr lang="ko-KR" altLang="en-US" dirty="0"/>
            </a:br>
            <a:r>
              <a:rPr lang="ko-KR" altLang="en-US" sz="1400" b="0" dirty="0"/>
              <a:t>광교호수공원과 </a:t>
            </a:r>
            <a:r>
              <a:rPr lang="ko-KR" altLang="en-US" sz="1400" b="0" dirty="0" err="1"/>
              <a:t>행궁동에</a:t>
            </a:r>
            <a:r>
              <a:rPr lang="ko-KR" altLang="en-US" sz="1400" b="0" dirty="0"/>
              <a:t> 위치한 랜드마크 도달 시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독특한 문양의 스탬프를 수집할 수 있습니다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이러한 수집형 요소는 플레이어에게 지역 문화와 연결된 보상을 제공하고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모든 스탬프를 모으는 목표를 통해 탐험의 즐거움을 더해줍니다</a:t>
            </a:r>
            <a:r>
              <a:rPr lang="en-US" altLang="ko-KR" sz="1400" b="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현실 장소의 역사적</a:t>
            </a:r>
            <a:r>
              <a:rPr lang="en-US" altLang="ko-KR" b="1" dirty="0"/>
              <a:t>, </a:t>
            </a:r>
            <a:r>
              <a:rPr lang="ko-KR" altLang="en-US" b="1" dirty="0"/>
              <a:t>문화적 가치</a:t>
            </a:r>
            <a:br>
              <a:rPr lang="ko-KR" altLang="en-US" dirty="0"/>
            </a:br>
            <a:r>
              <a:rPr lang="ko-KR" altLang="en-US" sz="1400" b="0" dirty="0"/>
              <a:t>게임은 단순한 달리기 체험을 넘어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광교호수공원과 </a:t>
            </a:r>
            <a:r>
              <a:rPr lang="ko-KR" altLang="en-US" sz="1400" b="0" dirty="0" err="1"/>
              <a:t>행궁동의</a:t>
            </a:r>
            <a:r>
              <a:rPr lang="ko-KR" altLang="en-US" sz="1400" b="0" dirty="0"/>
              <a:t> 역사적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문화적 정보를 제공하여 현실 공간에 대한 이해를 높여줍니다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플레이어는 게임을 통해 자연스럽게 지역의 문화적 가치를 접하게 되며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더 큰 몰입감을 느낍니다</a:t>
            </a:r>
            <a:r>
              <a:rPr lang="en-US" altLang="ko-KR" sz="1400" b="0" dirty="0"/>
              <a:t>.</a:t>
            </a:r>
          </a:p>
          <a:p>
            <a:r>
              <a:rPr lang="ko-KR" altLang="en-US" dirty="0"/>
              <a:t>이러한 몰입 요소들은 단순한 운동 게임을 넘어 플레이어에게 실시간 생존과 탐험</a:t>
            </a:r>
            <a:r>
              <a:rPr lang="en-US" altLang="ko-KR" dirty="0"/>
              <a:t>, </a:t>
            </a:r>
            <a:r>
              <a:rPr lang="ko-KR" altLang="en-US" dirty="0"/>
              <a:t>지역 문화 체험을 동시에 제공하여 깊은 몰입감을 선사합니다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281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저장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66B4CA7-D716-F0E9-421B-838ED36F76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863" y="950669"/>
            <a:ext cx="563416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플레이어 위치 및 이동 경로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내용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플레이어가 게임 내에서 이동한 실시간 위치 정보와 경로 기록.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목적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벌레의 추격 상황을 정확하게 반영하고, 미션 조건 충족 여부를 판단하며, 플레이어에게 최적의 도피 경로를 제공하기 위해 필요합니다.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미션 진행 상태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내용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현재 진행 중인 미션의 단계, 완료 여부, 제한 시간 내 달성 여부 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목적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미션의 진행 상황을 저장하여 플레이어가 도전 과제를 계속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이어나갈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 있게 하고, 성공 시 보상을 지급하거나 새로운 미션을 해제하기 위해 사용됩니다.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벌레와의 상호작용 데이터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내용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벌레와의 거리, 추격 횟수, 도망 성공 또는 실패 여부.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목적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게임의 핵심 요소인 생존 및 추격 플레이를 구현하고, 이에 따른 게임 난이도 조절과 플레이어 경험 향상을 위해 필요합니다.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스탬프 및 수집 아이템 현황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내용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플레이어가 수집한 스탬프 목록과 각 랜드마크 방문 기록.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목적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수집형 게임의 재미를 제공하고, 플레이어에게 수집 목표를 제시하여 지속적인 게임 참여를 유도합니다.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27FF5DC-CEFE-1C11-783C-81DE139ED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040" y="1058391"/>
            <a:ext cx="541813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400" dirty="0">
                <a:latin typeface="Arial" panose="020B0604020202020204" pitchFamily="34" charset="0"/>
              </a:rPr>
              <a:t>운동 및 활동 기록</a:t>
            </a:r>
            <a:endParaRPr lang="ko-KR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Arial" panose="020B0604020202020204" pitchFamily="34" charset="0"/>
              </a:rPr>
              <a:t>내용</a:t>
            </a:r>
            <a:r>
              <a:rPr lang="ko-KR" altLang="ko-KR" sz="1400" b="0" dirty="0">
                <a:latin typeface="Arial" panose="020B0604020202020204" pitchFamily="34" charset="0"/>
              </a:rPr>
              <a:t>: 플레이어의 총 달린 거리, 소모한 칼로리, 운동 시간 등의 피트니스 데이터.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Arial" panose="020B0604020202020204" pitchFamily="34" charset="0"/>
              </a:rPr>
              <a:t>목적</a:t>
            </a:r>
            <a:r>
              <a:rPr lang="ko-KR" altLang="ko-KR" sz="1400" b="0" dirty="0">
                <a:latin typeface="Arial" panose="020B0604020202020204" pitchFamily="34" charset="0"/>
              </a:rPr>
              <a:t>: 플레이어에게 자신의 운동 성과를 보여주어 건강 관리와 운동에 대한 동기 부여를 제공합니다.</a:t>
            </a:r>
            <a:endParaRPr lang="en-US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ko-KR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400" dirty="0">
                <a:latin typeface="Arial" panose="020B0604020202020204" pitchFamily="34" charset="0"/>
              </a:rPr>
              <a:t>게임 설정 및 개인화 데이터</a:t>
            </a:r>
            <a:endParaRPr lang="ko-KR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Arial" panose="020B0604020202020204" pitchFamily="34" charset="0"/>
              </a:rPr>
              <a:t>내용</a:t>
            </a:r>
            <a:r>
              <a:rPr lang="ko-KR" altLang="ko-KR" sz="1400" b="0" dirty="0">
                <a:latin typeface="Arial" panose="020B0604020202020204" pitchFamily="34" charset="0"/>
              </a:rPr>
              <a:t>: 사운드 설정, 알림 설정, 선호하는 미션 유형 등 개인 설정 정보.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Arial" panose="020B0604020202020204" pitchFamily="34" charset="0"/>
              </a:rPr>
              <a:t>목적</a:t>
            </a:r>
            <a:r>
              <a:rPr lang="ko-KR" altLang="ko-KR" sz="1400" b="0" dirty="0">
                <a:latin typeface="Arial" panose="020B0604020202020204" pitchFamily="34" charset="0"/>
              </a:rPr>
              <a:t>: 플레이어의 선호에 맞는 게임 환경을 제공하여 사용자 경험을 향상시킵니다.</a:t>
            </a:r>
            <a:endParaRPr lang="en-US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ko-KR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400" dirty="0">
                <a:latin typeface="Arial" panose="020B0604020202020204" pitchFamily="34" charset="0"/>
              </a:rPr>
              <a:t>진행도 및 보상 상태</a:t>
            </a:r>
            <a:endParaRPr lang="ko-KR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Arial" panose="020B0604020202020204" pitchFamily="34" charset="0"/>
              </a:rPr>
              <a:t>내용</a:t>
            </a:r>
            <a:r>
              <a:rPr lang="ko-KR" altLang="ko-KR" sz="1400" b="0" dirty="0">
                <a:latin typeface="Arial" panose="020B0604020202020204" pitchFamily="34" charset="0"/>
              </a:rPr>
              <a:t>: 레벨, 획득한 보상 아이템, 잠금 해제된 기능 및 콘텐츠.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Arial" panose="020B0604020202020204" pitchFamily="34" charset="0"/>
              </a:rPr>
              <a:t>목적</a:t>
            </a:r>
            <a:r>
              <a:rPr lang="ko-KR" altLang="ko-KR" sz="1400" b="0" dirty="0">
                <a:latin typeface="Arial" panose="020B0604020202020204" pitchFamily="34" charset="0"/>
              </a:rPr>
              <a:t>: 플레이어의 성장과 게임 내 성취감을 높이고, 지속적인 플레이를 장려합니다.</a:t>
            </a:r>
            <a:endParaRPr lang="en-US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ko-KR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400" dirty="0">
                <a:latin typeface="Arial" panose="020B0604020202020204" pitchFamily="34" charset="0"/>
              </a:rPr>
              <a:t>접속 및 활동 로그</a:t>
            </a:r>
            <a:endParaRPr lang="ko-KR" altLang="ko-KR" sz="1400" b="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Arial" panose="020B0604020202020204" pitchFamily="34" charset="0"/>
              </a:rPr>
              <a:t>내용</a:t>
            </a:r>
            <a:r>
              <a:rPr lang="ko-KR" altLang="ko-KR" sz="1400" b="0" dirty="0">
                <a:latin typeface="Arial" panose="020B0604020202020204" pitchFamily="34" charset="0"/>
              </a:rPr>
              <a:t>: 게임 접속 시간, 플레이 시간대, 빈도 등의 활동 기록.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Arial" panose="020B0604020202020204" pitchFamily="34" charset="0"/>
              </a:rPr>
              <a:t>목적</a:t>
            </a:r>
            <a:r>
              <a:rPr lang="ko-KR" altLang="ko-KR" sz="1400" b="0" dirty="0">
                <a:latin typeface="Arial" panose="020B0604020202020204" pitchFamily="34" charset="0"/>
              </a:rPr>
              <a:t>: 서비스 개선을 위한 통계 자료로 활용되고, 안정적인 게임 운영을 지원합니다.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ko-KR" altLang="ko-KR" sz="12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1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 데이터 로드와 저장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966" y="948258"/>
            <a:ext cx="10818633" cy="5909742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달린 총 거리 및 코스 데이터</a:t>
            </a:r>
          </a:p>
          <a:p>
            <a:pPr marL="0" indent="0">
              <a:buNone/>
            </a:pPr>
            <a:r>
              <a:rPr lang="en-US" altLang="ko-KR" sz="1900" dirty="0"/>
              <a:t>- </a:t>
            </a:r>
            <a:r>
              <a:rPr lang="ko-KR" altLang="en-US" sz="1900" dirty="0"/>
              <a:t>내용</a:t>
            </a:r>
            <a:r>
              <a:rPr lang="en-US" altLang="ko-KR" sz="1900" dirty="0"/>
              <a:t>: </a:t>
            </a:r>
            <a:r>
              <a:rPr lang="ko-KR" altLang="en-US" sz="1900" b="0" dirty="0"/>
              <a:t>플레이어가 누적하여 달린 총 거리와 특정 코스에서의 기록</a:t>
            </a:r>
            <a:r>
              <a:rPr lang="en-US" altLang="ko-KR" sz="1900" b="0" dirty="0"/>
              <a:t>.</a:t>
            </a:r>
          </a:p>
          <a:p>
            <a:pPr marL="0" indent="0">
              <a:buNone/>
            </a:pPr>
            <a:r>
              <a:rPr lang="en-US" altLang="ko-KR" sz="1900" dirty="0"/>
              <a:t>- </a:t>
            </a:r>
            <a:r>
              <a:rPr lang="ko-KR" altLang="en-US" sz="1900" dirty="0"/>
              <a:t>목적</a:t>
            </a:r>
            <a:r>
              <a:rPr lang="en-US" altLang="ko-KR" sz="1900" dirty="0"/>
              <a:t>: </a:t>
            </a:r>
            <a:r>
              <a:rPr lang="ko-KR" altLang="en-US" sz="1900" b="0" dirty="0"/>
              <a:t>플레이어는 자신이 일정 기간 동안 얼마나 달렸는지 확인할 수 있어</a:t>
            </a:r>
            <a:r>
              <a:rPr lang="en-US" altLang="ko-KR" sz="1900" b="0" dirty="0"/>
              <a:t>, </a:t>
            </a:r>
            <a:r>
              <a:rPr lang="ko-KR" altLang="en-US" sz="1900" b="0" dirty="0"/>
              <a:t>체력 향상과 같은 실질적 운동 목표에 대한 성취감을 느낄 수 있습니다</a:t>
            </a:r>
            <a:r>
              <a:rPr lang="en-US" altLang="ko-KR" sz="1900" b="0" dirty="0"/>
              <a:t>. </a:t>
            </a:r>
            <a:r>
              <a:rPr lang="ko-KR" altLang="en-US" sz="1900" b="0" dirty="0"/>
              <a:t>또한</a:t>
            </a:r>
            <a:r>
              <a:rPr lang="en-US" altLang="ko-KR" sz="1900" b="0" dirty="0"/>
              <a:t>, </a:t>
            </a:r>
            <a:r>
              <a:rPr lang="ko-KR" altLang="en-US" sz="1900" b="0" dirty="0"/>
              <a:t>다양한 코스에서의 기록을 확인하면서 다른 루트에 도전할 동기를 부여합니다</a:t>
            </a:r>
            <a:r>
              <a:rPr lang="en-US" altLang="ko-KR" sz="1900" b="0" dirty="0"/>
              <a:t>.</a:t>
            </a:r>
            <a:endParaRPr lang="en-US" altLang="ko-KR" b="0" dirty="0"/>
          </a:p>
          <a:p>
            <a:r>
              <a:rPr lang="en-US" altLang="ko-KR" sz="2000" dirty="0"/>
              <a:t>2. </a:t>
            </a:r>
            <a:r>
              <a:rPr lang="ko-KR" altLang="en-US" sz="2000" dirty="0"/>
              <a:t>미션 완료 내역  </a:t>
            </a:r>
          </a:p>
          <a:p>
            <a:pPr marL="0" indent="0">
              <a:buNone/>
            </a:pPr>
            <a:r>
              <a:rPr lang="en-US" altLang="ko-KR" sz="1900" dirty="0"/>
              <a:t>- </a:t>
            </a:r>
            <a:r>
              <a:rPr lang="ko-KR" altLang="en-US" sz="1900" dirty="0"/>
              <a:t>내용</a:t>
            </a:r>
            <a:r>
              <a:rPr lang="en-US" altLang="ko-KR" sz="1900" dirty="0"/>
              <a:t>: </a:t>
            </a:r>
            <a:r>
              <a:rPr lang="ko-KR" altLang="en-US" sz="1900" b="0" dirty="0"/>
              <a:t>특정 날짜에 달성한 미션 및 그 결과</a:t>
            </a:r>
            <a:r>
              <a:rPr lang="en-US" altLang="ko-KR" sz="1900" b="0" dirty="0"/>
              <a:t>.</a:t>
            </a:r>
          </a:p>
          <a:p>
            <a:pPr marL="0" indent="0">
              <a:buNone/>
            </a:pPr>
            <a:r>
              <a:rPr lang="en-US" altLang="ko-KR" sz="1900" dirty="0"/>
              <a:t>- </a:t>
            </a:r>
            <a:r>
              <a:rPr lang="ko-KR" altLang="en-US" sz="1900" dirty="0"/>
              <a:t>목적</a:t>
            </a:r>
            <a:r>
              <a:rPr lang="en-US" altLang="ko-KR" sz="1900" dirty="0"/>
              <a:t>: </a:t>
            </a:r>
            <a:r>
              <a:rPr lang="ko-KR" altLang="en-US" sz="1900" b="0" dirty="0"/>
              <a:t>플레이어가 완료한 미션 내역을 통해 성취감을 제공하고</a:t>
            </a:r>
            <a:r>
              <a:rPr lang="en-US" altLang="ko-KR" sz="1900" b="0" dirty="0"/>
              <a:t>, </a:t>
            </a:r>
            <a:r>
              <a:rPr lang="ko-KR" altLang="en-US" sz="1900" b="0" dirty="0"/>
              <a:t>목표 달성을 위한 동기를 유발합니다</a:t>
            </a:r>
            <a:r>
              <a:rPr lang="en-US" altLang="ko-KR" sz="1900" b="0" dirty="0"/>
              <a:t>. </a:t>
            </a:r>
            <a:r>
              <a:rPr lang="ko-KR" altLang="en-US" sz="1900" b="0" dirty="0"/>
              <a:t>또한</a:t>
            </a:r>
            <a:r>
              <a:rPr lang="en-US" altLang="ko-KR" sz="1900" b="0" dirty="0"/>
              <a:t>, </a:t>
            </a:r>
            <a:r>
              <a:rPr lang="ko-KR" altLang="en-US" sz="1900" b="0" dirty="0"/>
              <a:t>미션별 난이도와 진행 상황을 확인하여 도전 정신을 자극할 수 있습니다</a:t>
            </a:r>
            <a:r>
              <a:rPr lang="en-US" altLang="ko-KR" sz="1900" b="0" dirty="0"/>
              <a:t>.</a:t>
            </a:r>
            <a:endParaRPr lang="en-US" altLang="ko-KR" b="0" dirty="0"/>
          </a:p>
          <a:p>
            <a:r>
              <a:rPr lang="en-US" altLang="ko-KR" sz="2000" dirty="0"/>
              <a:t>3. </a:t>
            </a:r>
            <a:r>
              <a:rPr lang="ko-KR" altLang="en-US" sz="2000" dirty="0"/>
              <a:t>스탬프 수집 상태  </a:t>
            </a:r>
          </a:p>
          <a:p>
            <a:pPr marL="0" indent="0">
              <a:buNone/>
            </a:pPr>
            <a:r>
              <a:rPr lang="en-US" altLang="ko-KR" sz="1900" dirty="0"/>
              <a:t>- </a:t>
            </a:r>
            <a:r>
              <a:rPr lang="ko-KR" altLang="en-US" sz="1900" dirty="0"/>
              <a:t>내용</a:t>
            </a:r>
            <a:r>
              <a:rPr lang="en-US" altLang="ko-KR" sz="1900" dirty="0"/>
              <a:t>: </a:t>
            </a:r>
            <a:r>
              <a:rPr lang="ko-KR" altLang="en-US" sz="1900" b="0" dirty="0"/>
              <a:t>플레이어가 수집한 스탬프와 특정 랜드마크에서 얻은 수집물 상태</a:t>
            </a:r>
            <a:r>
              <a:rPr lang="en-US" altLang="ko-KR" sz="1900" b="0" dirty="0"/>
              <a:t>.</a:t>
            </a:r>
          </a:p>
          <a:p>
            <a:pPr marL="0" indent="0">
              <a:buNone/>
            </a:pPr>
            <a:r>
              <a:rPr lang="en-US" altLang="ko-KR" sz="1900" dirty="0"/>
              <a:t>- </a:t>
            </a:r>
            <a:r>
              <a:rPr lang="ko-KR" altLang="en-US" sz="1900" dirty="0"/>
              <a:t>목적</a:t>
            </a:r>
            <a:r>
              <a:rPr lang="en-US" altLang="ko-KR" sz="1900" dirty="0"/>
              <a:t>: </a:t>
            </a:r>
            <a:r>
              <a:rPr lang="ko-KR" altLang="en-US" sz="1900" b="0" dirty="0"/>
              <a:t>수집한 스탬프는 게임 내에서 특별한 성취를 나타내는 요소로 작용합니다</a:t>
            </a:r>
            <a:r>
              <a:rPr lang="en-US" altLang="ko-KR" sz="1900" b="0" dirty="0"/>
              <a:t>. </a:t>
            </a:r>
            <a:r>
              <a:rPr lang="ko-KR" altLang="en-US" sz="1900" b="0" dirty="0"/>
              <a:t>플레이어는 스탬프를 모으는 과정에서 재미와 동기를 느끼고</a:t>
            </a:r>
            <a:r>
              <a:rPr lang="en-US" altLang="ko-KR" sz="1900" b="0" dirty="0"/>
              <a:t>, </a:t>
            </a:r>
            <a:r>
              <a:rPr lang="ko-KR" altLang="en-US" sz="1900" b="0" dirty="0"/>
              <a:t>이를 통해 더 많은 코스와 랜드마크를 탐험하게 됩니다</a:t>
            </a:r>
            <a:r>
              <a:rPr lang="en-US" altLang="ko-KR" sz="1900" b="0" dirty="0"/>
              <a:t>. </a:t>
            </a:r>
            <a:r>
              <a:rPr lang="ko-KR" altLang="en-US" sz="1900" b="0" dirty="0"/>
              <a:t>문화적</a:t>
            </a:r>
            <a:r>
              <a:rPr lang="en-US" altLang="ko-KR" sz="1900" b="0" dirty="0"/>
              <a:t>, </a:t>
            </a:r>
            <a:r>
              <a:rPr lang="ko-KR" altLang="en-US" sz="1900" b="0" dirty="0"/>
              <a:t>역사적 가치를 지닌 스탬프 수집은 게임에 대한 몰입감을 더욱 높여줍니다</a:t>
            </a:r>
            <a:r>
              <a:rPr lang="en-US" altLang="ko-KR" sz="1900" b="0" dirty="0"/>
              <a:t>.</a:t>
            </a:r>
            <a:endParaRPr lang="en-US" altLang="ko-KR" b="0" dirty="0"/>
          </a:p>
          <a:p>
            <a:r>
              <a:rPr lang="ko-KR" altLang="en-US" sz="2000" dirty="0"/>
              <a:t>이렇게 데이터가 관리됨으로써</a:t>
            </a:r>
            <a:r>
              <a:rPr lang="en-US" altLang="ko-KR" sz="2000" dirty="0"/>
              <a:t>, </a:t>
            </a:r>
            <a:r>
              <a:rPr lang="ko-KR" altLang="en-US" sz="2000" dirty="0"/>
              <a:t>플레이어의 달리기 기록을 통해 성취감과 동기부여를 강화하며</a:t>
            </a:r>
            <a:r>
              <a:rPr lang="en-US" altLang="ko-KR" sz="2000" dirty="0"/>
              <a:t>, </a:t>
            </a:r>
            <a:r>
              <a:rPr lang="ko-KR" altLang="en-US" sz="2000" dirty="0"/>
              <a:t>게임을 통해 더 지속적으로 운동할 수 있는 환경을 제공합니다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2170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기술적 난이도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GPS Location</a:t>
            </a:r>
          </a:p>
          <a:p>
            <a:pPr marL="0" indent="0">
              <a:buNone/>
            </a:pPr>
            <a:r>
              <a:rPr lang="ko-KR" altLang="en-US" dirty="0"/>
              <a:t>먼저 수원의 여러 산책로 또는 러닝 코스를 주요 장소로 하는 게임인 만큼 해당 코스의 </a:t>
            </a:r>
            <a:r>
              <a:rPr lang="en-US" altLang="ko-KR" dirty="0"/>
              <a:t>GPS Location</a:t>
            </a:r>
            <a:r>
              <a:rPr lang="ko-KR" altLang="en-US" dirty="0"/>
              <a:t>을 참조하여 올바르고 안전한 경로의 총 거리</a:t>
            </a:r>
            <a:r>
              <a:rPr lang="en-US" altLang="ko-KR" dirty="0"/>
              <a:t>, </a:t>
            </a:r>
            <a:r>
              <a:rPr lang="ko-KR" altLang="en-US" dirty="0"/>
              <a:t>방향 지시를 위해 코스 전체 </a:t>
            </a:r>
            <a:r>
              <a:rPr lang="en-US" altLang="ko-KR" dirty="0"/>
              <a:t>GPS</a:t>
            </a:r>
            <a:r>
              <a:rPr lang="ko-KR" altLang="en-US" dirty="0"/>
              <a:t>를 알아올 수 있어야 한다</a:t>
            </a:r>
            <a:r>
              <a:rPr lang="en-US" altLang="ko-KR" dirty="0"/>
              <a:t>. </a:t>
            </a:r>
            <a:r>
              <a:rPr lang="ko-KR" altLang="en-US" dirty="0"/>
              <a:t>또한 후에 언급될 </a:t>
            </a:r>
            <a:r>
              <a:rPr lang="en-US" altLang="ko-KR" dirty="0"/>
              <a:t>Player Tracing </a:t>
            </a:r>
            <a:r>
              <a:rPr lang="ko-KR" altLang="en-US" dirty="0"/>
              <a:t>기능을 위해 </a:t>
            </a:r>
            <a:r>
              <a:rPr lang="en-US" altLang="ko-KR" dirty="0"/>
              <a:t>Player</a:t>
            </a:r>
            <a:r>
              <a:rPr lang="ko-KR" altLang="en-US" dirty="0"/>
              <a:t>의 실시간 </a:t>
            </a:r>
            <a:r>
              <a:rPr lang="en-US" altLang="ko-KR" dirty="0"/>
              <a:t>GPS</a:t>
            </a:r>
            <a:r>
              <a:rPr lang="ko-KR" altLang="en-US" dirty="0"/>
              <a:t>와 추적할 적대 </a:t>
            </a:r>
            <a:r>
              <a:rPr lang="en-US" altLang="ko-KR" dirty="0" err="1"/>
              <a:t>npc</a:t>
            </a:r>
            <a:r>
              <a:rPr lang="ko-KR" altLang="en-US" dirty="0"/>
              <a:t>의 실시간 </a:t>
            </a:r>
            <a:r>
              <a:rPr lang="en-US" altLang="ko-KR" dirty="0"/>
              <a:t>GPS</a:t>
            </a:r>
            <a:r>
              <a:rPr lang="ko-KR" altLang="en-US" dirty="0"/>
              <a:t>도 알아올 수 있어야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Player Tracing</a:t>
            </a:r>
          </a:p>
          <a:p>
            <a:pPr marL="0" indent="0">
              <a:buNone/>
            </a:pPr>
            <a:r>
              <a:rPr lang="ko-KR" altLang="en-US" dirty="0"/>
              <a:t>참조한 </a:t>
            </a:r>
            <a:r>
              <a:rPr lang="en-US" altLang="ko-KR" dirty="0"/>
              <a:t>GPS</a:t>
            </a:r>
            <a:r>
              <a:rPr lang="ko-KR" altLang="en-US" dirty="0"/>
              <a:t>를 통해 적대 </a:t>
            </a:r>
            <a:r>
              <a:rPr lang="en-US" altLang="ko-KR" dirty="0"/>
              <a:t>NPC</a:t>
            </a:r>
            <a:r>
              <a:rPr lang="ko-KR" altLang="en-US" dirty="0"/>
              <a:t>가 </a:t>
            </a:r>
            <a:r>
              <a:rPr lang="en-US" altLang="ko-KR" dirty="0"/>
              <a:t>Player</a:t>
            </a:r>
            <a:r>
              <a:rPr lang="ko-KR" altLang="en-US" dirty="0"/>
              <a:t>를 쫓아가게 만들고</a:t>
            </a:r>
            <a:r>
              <a:rPr lang="en-US" altLang="ko-KR" dirty="0"/>
              <a:t>, </a:t>
            </a:r>
            <a:r>
              <a:rPr lang="ko-KR" altLang="en-US" dirty="0"/>
              <a:t>두 개체 간의 거리를 계산하여 </a:t>
            </a:r>
            <a:r>
              <a:rPr lang="ko-KR" altLang="en-US" dirty="0" err="1"/>
              <a:t>대략적으로라도</a:t>
            </a:r>
            <a:r>
              <a:rPr lang="ko-KR" altLang="en-US" dirty="0"/>
              <a:t> 실시간으로 화면에 표시할 수 있어야 한다</a:t>
            </a:r>
            <a:r>
              <a:rPr lang="en-US" altLang="ko-KR" dirty="0"/>
              <a:t>. </a:t>
            </a:r>
            <a:r>
              <a:rPr lang="ko-KR" altLang="en-US" dirty="0"/>
              <a:t>카메라는 </a:t>
            </a:r>
            <a:r>
              <a:rPr lang="en-US" altLang="ko-KR" dirty="0"/>
              <a:t>NPC</a:t>
            </a:r>
            <a:r>
              <a:rPr lang="ko-KR" altLang="en-US" dirty="0"/>
              <a:t>보다 경로를 비추는 편이 안전과 편의 상에서 유리할 것이다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Play Log </a:t>
            </a:r>
            <a:r>
              <a:rPr lang="ko-KR" altLang="en-US" dirty="0"/>
              <a:t>및 수집한 아이템 저장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수집형 게임을 기반으로 하기 때문에 </a:t>
            </a:r>
            <a:r>
              <a:rPr lang="en-US" altLang="ko-KR" dirty="0"/>
              <a:t>Player</a:t>
            </a:r>
            <a:r>
              <a:rPr lang="ko-KR" altLang="en-US" dirty="0"/>
              <a:t>의 로그와 수집된 아이템을 언제든 확인할 수 있어야 한다</a:t>
            </a:r>
            <a:r>
              <a:rPr lang="en-US" altLang="ko-KR" dirty="0"/>
              <a:t>. </a:t>
            </a:r>
            <a:r>
              <a:rPr lang="ko-KR" altLang="en-US" dirty="0"/>
              <a:t>이를 위해 어플리케이션 자체에서 플레이어의 정보를 저장하는 시스템이 필요하다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전면 카메라</a:t>
            </a:r>
            <a:r>
              <a:rPr lang="en-US" altLang="ko-KR" dirty="0"/>
              <a:t> </a:t>
            </a:r>
            <a:r>
              <a:rPr lang="ko-KR" altLang="en-US" dirty="0"/>
              <a:t>활성화 </a:t>
            </a:r>
            <a:r>
              <a:rPr lang="en-US" altLang="ko-KR" dirty="0"/>
              <a:t>(</a:t>
            </a:r>
            <a:r>
              <a:rPr lang="ko-KR" altLang="en-US" dirty="0"/>
              <a:t>가능 시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위에서 언급했듯이 카메라는 후방에서 쫓아오는 </a:t>
            </a:r>
            <a:r>
              <a:rPr lang="en-US" altLang="ko-KR" dirty="0"/>
              <a:t>NPC</a:t>
            </a:r>
            <a:r>
              <a:rPr lang="ko-KR" altLang="en-US" dirty="0"/>
              <a:t>보다 경로를 비추는 편이 유리하지만</a:t>
            </a:r>
            <a:r>
              <a:rPr lang="en-US" altLang="ko-KR" dirty="0"/>
              <a:t>, </a:t>
            </a:r>
            <a:r>
              <a:rPr lang="ko-KR" altLang="en-US" dirty="0"/>
              <a:t>전면 카메라를 활용할 수 있으면 플레이어의 선택에 따라 어떤 것을 비출 것인지 선택할 수 있을 것이다</a:t>
            </a:r>
            <a:r>
              <a:rPr lang="en-US" altLang="ko-KR" dirty="0"/>
              <a:t>. </a:t>
            </a:r>
            <a:r>
              <a:rPr lang="ko-KR" altLang="en-US" dirty="0"/>
              <a:t>이를 위해 전면 카메라를 활성화할 수 있는 기능이 추가되어 있는지 알아보고</a:t>
            </a:r>
            <a:r>
              <a:rPr lang="en-US" altLang="ko-KR" dirty="0"/>
              <a:t>, </a:t>
            </a:r>
            <a:r>
              <a:rPr lang="ko-KR" altLang="en-US" dirty="0"/>
              <a:t>이것이 있다면 활용할 것이다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72201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기타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스탬프 앞면에는 수집욕구를 자극할 수 있는 예쁜 디자인의 그림으로 </a:t>
            </a:r>
            <a:r>
              <a:rPr lang="ko-KR" altLang="en-US" dirty="0" err="1"/>
              <a:t>이뤄져있다</a:t>
            </a:r>
            <a:r>
              <a:rPr lang="en-US" altLang="ko-KR" dirty="0"/>
              <a:t>. </a:t>
            </a:r>
            <a:r>
              <a:rPr lang="ko-KR" altLang="en-US" dirty="0"/>
              <a:t>스탬프 뒷면에는 게임의 배경적 상황에 맞게 역사</a:t>
            </a:r>
            <a:r>
              <a:rPr lang="en-US" altLang="ko-KR" dirty="0"/>
              <a:t>, </a:t>
            </a:r>
            <a:r>
              <a:rPr lang="ko-KR" altLang="en-US" dirty="0"/>
              <a:t>관광</a:t>
            </a:r>
            <a:r>
              <a:rPr lang="en-US" altLang="ko-KR" dirty="0"/>
              <a:t>, </a:t>
            </a:r>
            <a:r>
              <a:rPr lang="ko-KR" altLang="en-US" dirty="0"/>
              <a:t>문화적인 특징이 서술될 예정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광교호수공원</a:t>
            </a:r>
            <a:br>
              <a:rPr lang="en-US" altLang="ko-KR" dirty="0"/>
            </a:br>
            <a:r>
              <a:rPr lang="ko-KR" altLang="en-US" dirty="0"/>
              <a:t>스탬프 문구</a:t>
            </a:r>
            <a:r>
              <a:rPr lang="en-US" altLang="ko-KR" dirty="0"/>
              <a:t>: </a:t>
            </a:r>
            <a:r>
              <a:rPr lang="ko-KR" altLang="en-US" dirty="0"/>
              <a:t>대표적인 휴식장소이자 공원으로 사용되었던 장소이다</a:t>
            </a:r>
            <a:r>
              <a:rPr lang="en-US" altLang="ko-KR" dirty="0"/>
              <a:t>. </a:t>
            </a:r>
            <a:r>
              <a:rPr lang="ko-KR" altLang="en-US" dirty="0"/>
              <a:t>산책과 조깅하는 사람들을 심심치 않게 볼 수 있는 장소였다</a:t>
            </a:r>
            <a:r>
              <a:rPr lang="en-US" altLang="ko-KR" dirty="0"/>
              <a:t>. </a:t>
            </a:r>
            <a:r>
              <a:rPr lang="ko-KR" altLang="en-US" dirty="0"/>
              <a:t>지금은 벌레들의 주 출몰지로 </a:t>
            </a:r>
            <a:r>
              <a:rPr lang="ko-KR" altLang="en-US" dirty="0" err="1"/>
              <a:t>변한지</a:t>
            </a:r>
            <a:r>
              <a:rPr lang="ko-KR" altLang="en-US" dirty="0"/>
              <a:t> </a:t>
            </a:r>
            <a:r>
              <a:rPr lang="ko-KR" altLang="en-US" dirty="0" err="1"/>
              <a:t>오래이다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44F646-C552-B196-3562-787A2133E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3140968"/>
            <a:ext cx="2598580" cy="25922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CEB954-63F0-8DF4-9F62-3E5D11C79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8" y="3140968"/>
            <a:ext cx="2598580" cy="2611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67BF60-0C15-256A-36A0-61772B0CEE73}"/>
              </a:ext>
            </a:extLst>
          </p:cNvPr>
          <p:cNvSpPr txBox="1"/>
          <p:nvPr/>
        </p:nvSpPr>
        <p:spPr>
          <a:xfrm>
            <a:off x="2103572" y="58776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앞면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07D2E-665A-D754-0D96-54A7C0B9CC2C}"/>
              </a:ext>
            </a:extLst>
          </p:cNvPr>
          <p:cNvSpPr txBox="1"/>
          <p:nvPr/>
        </p:nvSpPr>
        <p:spPr>
          <a:xfrm>
            <a:off x="4983892" y="58776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뒷면</a:t>
            </a:r>
          </a:p>
        </p:txBody>
      </p:sp>
    </p:spTree>
    <p:extLst>
      <p:ext uri="{BB962C8B-B14F-4D97-AF65-F5344CB8AC3E}">
        <p14:creationId xmlns:p14="http://schemas.microsoft.com/office/powerpoint/2010/main" val="4289521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6828</TotalTime>
  <Words>1647</Words>
  <Application>Microsoft Office PowerPoint</Application>
  <PresentationFormat>와이드스크린</PresentationFormat>
  <Paragraphs>104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메타버스프로그래밍</vt:lpstr>
      <vt:lpstr>배경 스토리</vt:lpstr>
      <vt:lpstr>게임 특징</vt:lpstr>
      <vt:lpstr>배경이 되는 현실 공간</vt:lpstr>
      <vt:lpstr>사건 전개에 따른 AR 작용 방식</vt:lpstr>
      <vt:lpstr>몰입 요소</vt:lpstr>
      <vt:lpstr>데이터 저장</vt:lpstr>
      <vt:lpstr>플레이어 데이터 로드와 저장</vt:lpstr>
      <vt:lpstr>기술적 난이도</vt:lpstr>
      <vt:lpstr>(기타)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현모 서문</cp:lastModifiedBy>
  <cp:revision>1191</cp:revision>
  <dcterms:created xsi:type="dcterms:W3CDTF">2017-09-26T02:52:19Z</dcterms:created>
  <dcterms:modified xsi:type="dcterms:W3CDTF">2024-11-17T14:57:48Z</dcterms:modified>
</cp:coreProperties>
</file>